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74" r:id="rId2"/>
    <p:sldId id="375" r:id="rId3"/>
    <p:sldId id="384" r:id="rId4"/>
    <p:sldId id="385" r:id="rId5"/>
    <p:sldId id="386" r:id="rId6"/>
    <p:sldId id="257" r:id="rId7"/>
    <p:sldId id="387" r:id="rId8"/>
    <p:sldId id="388" r:id="rId9"/>
    <p:sldId id="376" r:id="rId10"/>
    <p:sldId id="389" r:id="rId11"/>
    <p:sldId id="390" r:id="rId12"/>
    <p:sldId id="377" r:id="rId13"/>
    <p:sldId id="397" r:id="rId14"/>
    <p:sldId id="398" r:id="rId15"/>
    <p:sldId id="391" r:id="rId16"/>
    <p:sldId id="378" r:id="rId17"/>
    <p:sldId id="392" r:id="rId18"/>
    <p:sldId id="399" r:id="rId19"/>
    <p:sldId id="393" r:id="rId20"/>
    <p:sldId id="394" r:id="rId21"/>
    <p:sldId id="395" r:id="rId22"/>
    <p:sldId id="396" r:id="rId23"/>
    <p:sldId id="400" r:id="rId24"/>
    <p:sldId id="401" r:id="rId25"/>
    <p:sldId id="402" r:id="rId26"/>
    <p:sldId id="403" r:id="rId27"/>
    <p:sldId id="404" r:id="rId28"/>
    <p:sldId id="405" r:id="rId29"/>
    <p:sldId id="379" r:id="rId30"/>
    <p:sldId id="406" r:id="rId31"/>
    <p:sldId id="380" r:id="rId32"/>
    <p:sldId id="407" r:id="rId33"/>
    <p:sldId id="382" r:id="rId34"/>
    <p:sldId id="383" r:id="rId35"/>
    <p:sldId id="408" r:id="rId36"/>
    <p:sldId id="40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1"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3861-EEE2-1C84-4879-437976E6C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F2456-BB67-6A6B-C40B-672239632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A3FF6-4166-5D90-06FD-026B950EF4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B7605E-8B85-8CA1-F879-CEA770F292C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79632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54902-7D62-A782-DFC7-16D5645BD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EF9F1-C2CD-E7FA-38F6-29B605CAC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46002-578B-D780-88CF-5D0864A6B6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9E9B2-B400-967F-F8CC-29EC1E9CE05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70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49720-812A-BCBF-BA9B-B7017A81B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02EE6-1125-AC62-2D88-565B64306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6CDA7-D41F-1F6C-396F-F5FE0A0F2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9B562-D017-FEBF-7678-845707D78FF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66838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04AF-E45B-77FB-853C-B5F26CE9E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D62FA-D871-C4E6-4849-A433F934C2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4D5D9-7A3A-D8B8-21BF-0253A103EC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96E21B-D31A-CBCF-6EBC-AD539DD7F95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3803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6FE7A-4142-1773-1333-8F49DCCA6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5E6AA-C0BB-44A0-E6CA-59BE4C57C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F6E75-F40A-8541-504B-8B1FE119A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B84212-A8A2-5236-35C6-EF198F8DE75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26368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F9AD-8D1F-6FE0-EE18-1FC7E180A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81E74-2CE0-8590-62F3-980792E90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8CD4A-6586-EBD5-E444-79839CBD3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83C3E-671C-3771-4190-381A6911770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56463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85CD-FF3A-AED6-ED00-66BE0D65B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064CE-6259-7BE2-A6A5-E1F1AFF5A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118F5-0A90-20E7-4894-4AC10FD4BC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BD9869-9CBB-771E-FCD8-4AF5F617603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55187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3DA9C-2144-DA41-FA66-08081FED6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0A111-F772-5BBA-8E9D-CCE29A17C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F8183-564E-1B3C-43F5-499B0706EA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74B355-0EE6-3AC3-5375-30DBDAA1A47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81117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1CDE-6C04-5212-B689-BC933E452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839C5-EF10-007C-60B0-5535ADF28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0D387-3026-1047-236A-9BD9B5DCAD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F813FD-7C26-80CA-DB57-AE5C2663229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45175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6CF11-BBD5-9E03-DB1E-8F507C913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32772-7144-3A56-40AE-B89044A2B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D4112-8E2C-E6EE-C692-E71EBFF096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D98D4-6B23-B28B-9498-90A62B0ED72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41994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EC3A-8231-D6E8-8A23-D266C541D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12BEA-0233-1517-256F-00756309E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83AFC-E1F1-AFCB-86A6-12CB1783FD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26A5E1-95CB-9780-16F0-6FA65CF26B5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88457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4816-392F-021B-57F7-0F8D591B3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01472-900A-564D-D575-F9F6457D1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F39D9-1E77-792B-5DE5-B13A2251E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6B3F4F-E3DD-65BC-605D-4EFCE7A4F91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69870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4564B-A0A0-1156-0E5B-E8D5568F5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EFED6-6618-8B15-B083-2DD7ABD1A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05209-0119-FB82-A320-E5CED4AD5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B1FFC-F9D0-09CA-5AA0-7F367693628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38928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9295F-105B-9A01-41B8-83BF068BC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8BBFC-7ED4-E8AA-0635-9BDF28A9D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A0605-BEC1-22D0-B889-5BECB396A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E2C35B-5134-CE31-653A-1722EFA7F20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19381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52C1C-DE07-429D-B00A-9647BE880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EF4BD-7AB9-1A46-101C-09B364D7E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77A5F-83FB-0FC4-CDBA-F1FA252407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5FDB2E-76D0-8EFA-F485-9CB22F98B38E}"/>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794069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70B8-236C-6F1C-287D-FB12F33FA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2BFDA-F15C-BB5F-DCC6-68CC8353C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6CA64-209E-4A42-7809-74836BEB9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14CACB-763B-5DAF-C8C6-C40A9B15B18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34909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F8E2-D950-D8C3-8AB3-467A1823C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A1153-F7BF-AEEF-294D-3AA1680B7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861845-FC4C-E628-E103-01CD23BC35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9E564-A120-F7FB-D559-EEB1D6EE718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139585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23B9-F787-CEA7-B7CB-2098054B1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B4279-0606-58ED-652C-4AF8728AF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4259F-7B36-8EC9-44B4-8F83E930C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EE3D0E-4FB7-69A8-CCB4-FCBD73E7CCCB}"/>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025025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F57E9-B5AF-AD61-7B97-92C640210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5A0C6-5B74-E3F5-A83E-8934E79A4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9F969-04B3-AF2A-9876-B8C378388D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B43A39-CEB5-7D70-EB66-5FF090630E4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945252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F6CB-93CD-A4CE-8FBF-82F550059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7960F-4086-D4FA-5D88-F1EECC09F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79C07-A62E-AD5A-F87B-17A2140BE8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ED6637-64C8-D2F8-CEB4-4759B726A3F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09733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F3218-71FF-94D5-A5B7-1EA3BC91F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A8AC5-5A29-98D9-414D-8BAF015E3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E1279-0B2C-33FF-ABA3-9DFCD37380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56FE1-25A8-CF93-AD37-337799EBB244}"/>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033245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59852-BFEF-20CA-4DE7-276BE2E6E3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0E46E-ECA4-8F93-FA62-1504A556D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371C8-AE29-1B81-18B7-72DF44D41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743D7-EF0F-0735-E5A1-2AD1BCD16BD1}"/>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529062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53AC-4153-7498-970E-902F4F6B9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A767A-3992-063D-CD42-484DC7FCC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1A1A9-E498-8E2F-BEDD-BE88B384A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39F6D9-7B4A-248D-E5B9-52CB004A324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907954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0E71A-30F9-6525-18F2-3C19D749E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42AFA-2F29-6CA6-C127-ADEFEB84C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EFC43-42DC-0396-BBFE-E3492F841A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A89690-4CB9-B976-BAF8-FCE0A4597976}"/>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2809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7089535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540032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7174A-B682-421B-9779-C2B07DB87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54237-7298-622B-1C19-BF22E5CD7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F2834-5FFC-6E9C-0C7F-A180433E36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D2E56E-A8E0-BC1B-407A-3670C2473A4E}"/>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029689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CCCBB-1987-2FBF-D340-DFC2617DE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A2C21-1877-6475-EF6B-9FBA59544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4DF17-6745-9072-C95E-3ADB3F8594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2B906-B9DB-E504-AC3A-99E28748D48B}"/>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89819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09-05-2026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tps://drive.google.com/file/d/1yXgMWXSgqdgTtWZxCUag58FrcHimnIIW/view?usp=drivesdk" TargetMode="External"/><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hyperlink" Target="https://docs.google.com/document/d/1VQNkSLy4DjLrLic-7B_iFvxtTvono519/edit?usp=drivesdk&amp;ouid=115173256979980640897&amp;rtpof=true&amp;sd=true" TargetMode="External"/><Relationship Id="rId4" Type="http://schemas.openxmlformats.org/officeDocument/2006/relationships/hyperlink" Target="https://drive.google.com/file/d/1vBj9HA6D4fQ-A8fEC78hosgGqpXnRHZN/view?usp=drivesdk"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770651" y="1219762"/>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403406" y="1361322"/>
            <a:ext cx="8030910" cy="5816977"/>
          </a:xfrm>
          <a:prstGeom prst="rect">
            <a:avLst/>
          </a:prstGeom>
          <a:noFill/>
        </p:spPr>
        <p:txBody>
          <a:bodyPr wrap="square">
            <a:spAutoFit/>
          </a:bodyPr>
          <a:lstStyle/>
          <a:p>
            <a:pPr algn="ctr"/>
            <a:r>
              <a:rPr lang="en-US" sz="4000" b="1" dirty="0">
                <a:solidFill>
                  <a:srgbClr val="E81B25"/>
                </a:solidFill>
                <a:latin typeface="Berlin Sans FB Demi" panose="020E0802020502020306" pitchFamily="34" charset="0"/>
                <a:ea typeface="SamsungOne 800" panose="020B0903030303020204" pitchFamily="34" charset="0"/>
              </a:rPr>
              <a:t>  MSRIT CODE SENTINALS</a:t>
            </a:r>
          </a:p>
          <a:p>
            <a:pPr algn="ctr"/>
            <a:r>
              <a:rPr lang="en-IN" sz="5400" b="1" dirty="0">
                <a:solidFill>
                  <a:srgbClr val="FF0000"/>
                </a:solidFill>
                <a:latin typeface="Berlin Sans FB Demi" panose="020E0802020502020306" pitchFamily="34" charset="0"/>
              </a:rPr>
              <a:t>🛡 </a:t>
            </a:r>
            <a:r>
              <a:rPr lang="en-IN" sz="5400" b="1" dirty="0" err="1">
                <a:solidFill>
                  <a:srgbClr val="FF0000"/>
                </a:solidFill>
                <a:latin typeface="Berlin Sans FB Demi" panose="020E0802020502020306" pitchFamily="34" charset="0"/>
              </a:rPr>
              <a:t>GuardianAI</a:t>
            </a:r>
            <a:endParaRPr lang="en-US" sz="5400" b="1" dirty="0">
              <a:solidFill>
                <a:srgbClr val="FF0000"/>
              </a:solidFill>
              <a:latin typeface="Berlin Sans FB Demi" panose="020E0802020502020306" pitchFamily="34" charset="0"/>
              <a:ea typeface="SamsungOne 800" panose="020B0903030303020204" pitchFamily="34" charset="0"/>
            </a:endParaRPr>
          </a:p>
          <a:p>
            <a:r>
              <a:rPr lang="en-US" b="1" u="sng" dirty="0" err="1">
                <a:solidFill>
                  <a:srgbClr val="FF0000"/>
                </a:solidFill>
              </a:rPr>
              <a:t>GuardianAI</a:t>
            </a:r>
            <a:r>
              <a:rPr lang="en-US" b="1" u="sng" dirty="0">
                <a:solidFill>
                  <a:srgbClr val="FF0000"/>
                </a:solidFill>
              </a:rPr>
              <a:t> helps people spot deceptive design before they pay, subscribe, or share data</a:t>
            </a:r>
            <a:r>
              <a:rPr lang="en-US" b="1" dirty="0">
                <a:solidFill>
                  <a:srgbClr val="FF0000"/>
                </a:solidFill>
              </a:rPr>
              <a:t>.</a:t>
            </a:r>
            <a:endParaRPr lang="en-US" dirty="0">
              <a:solidFill>
                <a:srgbClr val="FF0000"/>
              </a:solidFill>
            </a:endParaRPr>
          </a:p>
          <a:p>
            <a:r>
              <a:rPr lang="en-US" i="1" dirty="0" err="1">
                <a:solidFill>
                  <a:srgbClr val="FF0000"/>
                </a:solidFill>
              </a:rPr>
              <a:t>GuardianAI</a:t>
            </a:r>
            <a:r>
              <a:rPr lang="en-US" i="1" dirty="0">
                <a:solidFill>
                  <a:srgbClr val="FF0000"/>
                </a:solidFill>
              </a:rPr>
              <a:t> is a conversational AI agent that takes a single URL from a user, performs multi-layered analysis of both the visible interface and the legal fine print, and returns an actionable risk assessment — all inside a Telegram chat. It transforms complex, hidden manipulation into simple, understandable warnings that anyone can act on</a:t>
            </a:r>
            <a:r>
              <a:rPr lang="en-US" dirty="0">
                <a:solidFill>
                  <a:srgbClr val="FF0000"/>
                </a:solidFill>
              </a:rPr>
              <a:t>.</a:t>
            </a:r>
          </a:p>
          <a:p>
            <a:pPr algn="ctr"/>
            <a:r>
              <a:rPr lang="en-US" sz="3200" b="1" u="sng" dirty="0">
                <a:solidFill>
                  <a:schemeClr val="tx2"/>
                </a:solidFill>
                <a:latin typeface="Berlin Sans FB Demi" panose="020E0802020502020306" pitchFamily="34" charset="0"/>
                <a:ea typeface="SamsungOne 800" panose="020B0903030303020204" pitchFamily="34" charset="0"/>
              </a:rPr>
              <a:t>Team members</a:t>
            </a:r>
          </a:p>
          <a:p>
            <a:pPr algn="ctr"/>
            <a:r>
              <a:rPr lang="en-US" sz="2000" b="1" dirty="0">
                <a:solidFill>
                  <a:schemeClr val="tx2"/>
                </a:solidFill>
                <a:latin typeface="Berlin Sans FB Demi" panose="020E0802020502020306" pitchFamily="34" charset="0"/>
                <a:ea typeface="SamsungOne 800" panose="020B0903030303020204" pitchFamily="34" charset="0"/>
              </a:rPr>
              <a:t>-Anirudha Mohanty</a:t>
            </a:r>
          </a:p>
          <a:p>
            <a:pPr algn="ctr"/>
            <a:r>
              <a:rPr lang="en-US" sz="2000" b="1" dirty="0">
                <a:solidFill>
                  <a:schemeClr val="tx2"/>
                </a:solidFill>
                <a:latin typeface="Berlin Sans FB Demi" panose="020E0802020502020306" pitchFamily="34" charset="0"/>
                <a:ea typeface="SamsungOne 800" panose="020B0903030303020204" pitchFamily="34" charset="0"/>
              </a:rPr>
              <a:t>-Aryan Bhardwaj </a:t>
            </a:r>
          </a:p>
          <a:p>
            <a:pPr algn="ctr"/>
            <a:r>
              <a:rPr lang="en-US" sz="2000" b="1" dirty="0">
                <a:solidFill>
                  <a:schemeClr val="tx2"/>
                </a:solidFill>
                <a:latin typeface="Berlin Sans FB Demi" panose="020E0802020502020306" pitchFamily="34" charset="0"/>
                <a:ea typeface="SamsungOne 800" panose="020B0903030303020204" pitchFamily="34" charset="0"/>
              </a:rPr>
              <a:t>-Sankalp Gupta </a:t>
            </a:r>
          </a:p>
          <a:p>
            <a:pPr algn="ctr"/>
            <a:r>
              <a:rPr lang="en-US" sz="2000" b="1" dirty="0">
                <a:solidFill>
                  <a:schemeClr val="tx2"/>
                </a:solidFill>
                <a:latin typeface="Berlin Sans FB Demi" panose="020E0802020502020306" pitchFamily="34" charset="0"/>
                <a:ea typeface="SamsungOne 800" panose="020B0903030303020204" pitchFamily="34" charset="0"/>
              </a:rPr>
              <a:t>-Pragneya Joshi</a:t>
            </a: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972800" cy="5078313"/>
          </a:xfrm>
          <a:prstGeom prst="rect">
            <a:avLst/>
          </a:prstGeom>
          <a:noFill/>
        </p:spPr>
        <p:txBody>
          <a:bodyPr wrap="square" rtlCol="0">
            <a:spAutoFit/>
          </a:bodyPr>
          <a:lstStyle/>
          <a:p>
            <a:r>
              <a:rPr lang="en-IN" b="1" u="sng" dirty="0"/>
              <a:t>Why we selected this theme-</a:t>
            </a:r>
          </a:p>
          <a:p>
            <a:r>
              <a:rPr lang="en-US" dirty="0"/>
              <a:t>We selected this theme because dark patterns are contextual, dynamic, and often hidden in mixed UI + legal content. Traditional static heuristics miss nuance (tone, pressure language, consent framing, buried clauses). GenAI enables:</a:t>
            </a:r>
          </a:p>
          <a:p>
            <a:r>
              <a:rPr lang="en-US" b="1" dirty="0"/>
              <a:t>1.Cross-modal reasoning over interface text and legal text</a:t>
            </a:r>
            <a:r>
              <a:rPr lang="en-US" dirty="0"/>
              <a:t> — A single LLM call can correlate a "Subscribe Now" button's urgency with a </a:t>
            </a:r>
            <a:r>
              <a:rPr lang="en-US" dirty="0" err="1"/>
              <a:t>ToS</a:t>
            </a:r>
            <a:r>
              <a:rPr lang="en-US" dirty="0"/>
              <a:t> clause that locks users into 12-month billing. No rule-based system can perform this cross-domain inference.</a:t>
            </a:r>
          </a:p>
          <a:p>
            <a:endParaRPr lang="en-US" dirty="0"/>
          </a:p>
          <a:p>
            <a:r>
              <a:rPr lang="en-US" b="1" dirty="0"/>
              <a:t>2.Structured extraction of manipulative signals</a:t>
            </a:r>
            <a:r>
              <a:rPr lang="en-US" dirty="0"/>
              <a:t> — GenAI can output structured JSON taxonomies (type, severity, evidence) from unstructured natural language, enabling downstream scoring and storage without manual labeling.</a:t>
            </a:r>
          </a:p>
          <a:p>
            <a:endParaRPr lang="en-US" dirty="0"/>
          </a:p>
          <a:p>
            <a:r>
              <a:rPr lang="en-US" b="1" dirty="0"/>
              <a:t>3.Adaptive learning through retrieval of semantically similar historical cases</a:t>
            </a:r>
            <a:r>
              <a:rPr lang="en-US" dirty="0"/>
              <a:t> — By embedding detected patterns into a vector database, the system builds a growing library of real-world examples. RAG injection means the LLM doesn't just classify in isolation — it compares against every pattern ever seen across all users.</a:t>
            </a:r>
          </a:p>
          <a:p>
            <a:r>
              <a:rPr lang="en-US" dirty="0"/>
              <a:t>This makes the solution suitable for both practical user protection and ongoing research discovery.</a:t>
            </a:r>
          </a:p>
          <a:p>
            <a:endParaRPr lang="en-US" dirty="0"/>
          </a:p>
          <a:p>
            <a:endParaRPr lang="en-US" dirty="0"/>
          </a:p>
          <a:p>
            <a:endParaRPr lang="en-IN" dirty="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2C15D-B0BD-F258-36E8-573DA98EBD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5B09D2-CE71-BD66-7567-3B016FBC74D0}"/>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4B8F5E02-30D4-5D3A-904B-3FE9979402A8}"/>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4B84B43C-F064-39EE-715F-6B486889D71F}"/>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5A6B2D50-2275-E525-9218-9E62527B9D60}"/>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1B6EB648-106F-75FB-4B80-581EB0AF43C9}"/>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23C7B721-13D1-E3B5-ECC8-A880311AB5A5}"/>
              </a:ext>
            </a:extLst>
          </p:cNvPr>
          <p:cNvSpPr txBox="1"/>
          <p:nvPr/>
        </p:nvSpPr>
        <p:spPr>
          <a:xfrm>
            <a:off x="740496" y="1682945"/>
            <a:ext cx="10972800" cy="5355312"/>
          </a:xfrm>
          <a:prstGeom prst="rect">
            <a:avLst/>
          </a:prstGeom>
          <a:noFill/>
        </p:spPr>
        <p:txBody>
          <a:bodyPr wrap="square" rtlCol="0">
            <a:spAutoFit/>
          </a:bodyPr>
          <a:lstStyle/>
          <a:p>
            <a:r>
              <a:rPr lang="en-US" b="1" u="sng" dirty="0"/>
              <a:t>What problem are we solving-</a:t>
            </a:r>
          </a:p>
          <a:p>
            <a:r>
              <a:rPr lang="en-US" dirty="0"/>
              <a:t>Users are manipulated by dark patterns such as:</a:t>
            </a:r>
          </a:p>
          <a:p>
            <a:r>
              <a:rPr lang="en-US" b="1" dirty="0"/>
              <a:t>1.Hidden costs at checkout</a:t>
            </a:r>
            <a:r>
              <a:rPr lang="en-US" dirty="0"/>
              <a:t> — Fees, taxes, or service charges that only appear at the final payment step after the user has invested time in the purchase flow</a:t>
            </a:r>
          </a:p>
          <a:p>
            <a:endParaRPr lang="en-US" dirty="0"/>
          </a:p>
          <a:p>
            <a:r>
              <a:rPr lang="en-US" b="1" dirty="0"/>
              <a:t>2.Forced continuity and cancellation friction</a:t>
            </a:r>
            <a:r>
              <a:rPr lang="en-US" dirty="0"/>
              <a:t> — Auto-renewal clauses buried in </a:t>
            </a:r>
            <a:r>
              <a:rPr lang="en-US" dirty="0" err="1"/>
              <a:t>ToS</a:t>
            </a:r>
            <a:r>
              <a:rPr lang="en-US" dirty="0"/>
              <a:t>, combined with multi-step cancellation flows designed to discourage users from leaving</a:t>
            </a:r>
          </a:p>
          <a:p>
            <a:endParaRPr lang="en-US" dirty="0"/>
          </a:p>
          <a:p>
            <a:r>
              <a:rPr lang="en-US" b="1" dirty="0"/>
              <a:t>3.Consent tricks and privacy misdirection</a:t>
            </a:r>
            <a:r>
              <a:rPr lang="en-US" dirty="0"/>
              <a:t> — Pre-checked opt-in boxes, confusing double-negatives ("Uncheck to not receive..."), and data-sharing agreements disguised as mandatory fields</a:t>
            </a:r>
          </a:p>
          <a:p>
            <a:endParaRPr lang="en-US" dirty="0"/>
          </a:p>
          <a:p>
            <a:r>
              <a:rPr lang="en-US" b="1" dirty="0"/>
              <a:t>4.Urgency/pressure tactics and misleading social proof</a:t>
            </a:r>
            <a:r>
              <a:rPr lang="en-US" dirty="0"/>
              <a:t> — Fake countdown timers, fabricated "only 2 left!" warnings, and manufactured review counts that create artificial urgency</a:t>
            </a:r>
          </a:p>
          <a:p>
            <a:endParaRPr lang="en-US" dirty="0"/>
          </a:p>
          <a:p>
            <a:r>
              <a:rPr lang="en-US" dirty="0"/>
              <a:t>These patterns cause users to make decisions they would not make under transparent design. The financial and privacy harm is real, measurable, and growing as digital commerce expands.</a:t>
            </a:r>
          </a:p>
          <a:p>
            <a:endParaRPr lang="en-US" dirty="0"/>
          </a:p>
          <a:p>
            <a:endParaRPr lang="en-US" dirty="0"/>
          </a:p>
          <a:p>
            <a:endParaRPr lang="en-IN" dirty="0"/>
          </a:p>
        </p:txBody>
      </p:sp>
    </p:spTree>
    <p:extLst>
      <p:ext uri="{BB962C8B-B14F-4D97-AF65-F5344CB8AC3E}">
        <p14:creationId xmlns:p14="http://schemas.microsoft.com/office/powerpoint/2010/main" val="2650759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A33D-4C94-1F2E-297F-0A365A6335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EB4671A-7075-233A-2572-68BC2313D6FC}"/>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B1EE1AF3-9FEE-B55F-FBFE-D1A5EBF374B4}"/>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7A9CCEBF-B317-8AFD-9E47-8C147509CC09}"/>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DD9423C9-F7A2-715F-6435-803C23F1E4C2}"/>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754F6D19-4D78-BA79-EC73-303B4FD9F7A5}"/>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C548A3EE-15E4-193F-9B74-AC40823BCE09}"/>
              </a:ext>
            </a:extLst>
          </p:cNvPr>
          <p:cNvSpPr txBox="1"/>
          <p:nvPr/>
        </p:nvSpPr>
        <p:spPr>
          <a:xfrm>
            <a:off x="740496" y="1682945"/>
            <a:ext cx="10972800" cy="923330"/>
          </a:xfrm>
          <a:prstGeom prst="rect">
            <a:avLst/>
          </a:prstGeom>
          <a:noFill/>
        </p:spPr>
        <p:txBody>
          <a:bodyPr wrap="square" rtlCol="0">
            <a:spAutoFit/>
          </a:bodyPr>
          <a:lstStyle/>
          <a:p>
            <a:endParaRPr lang="en-US" dirty="0"/>
          </a:p>
          <a:p>
            <a:endParaRPr lang="en-US" dirty="0"/>
          </a:p>
          <a:p>
            <a:endParaRPr lang="en-IN" dirty="0"/>
          </a:p>
        </p:txBody>
      </p:sp>
      <p:graphicFrame>
        <p:nvGraphicFramePr>
          <p:cNvPr id="6" name="Table 5">
            <a:extLst>
              <a:ext uri="{FF2B5EF4-FFF2-40B4-BE49-F238E27FC236}">
                <a16:creationId xmlns:a16="http://schemas.microsoft.com/office/drawing/2014/main" id="{3DD680D3-B021-6685-D53E-D4EC43DB0C3A}"/>
              </a:ext>
            </a:extLst>
          </p:cNvPr>
          <p:cNvGraphicFramePr>
            <a:graphicFrameLocks noGrp="1"/>
          </p:cNvGraphicFramePr>
          <p:nvPr>
            <p:extLst>
              <p:ext uri="{D42A27DB-BD31-4B8C-83A1-F6EECF244321}">
                <p14:modId xmlns:p14="http://schemas.microsoft.com/office/powerpoint/2010/main" val="1677707641"/>
              </p:ext>
            </p:extLst>
          </p:nvPr>
        </p:nvGraphicFramePr>
        <p:xfrm>
          <a:off x="838200" y="2054930"/>
          <a:ext cx="10744200" cy="4132510"/>
        </p:xfrm>
        <a:graphic>
          <a:graphicData uri="http://schemas.openxmlformats.org/drawingml/2006/table">
            <a:tbl>
              <a:tblPr/>
              <a:tblGrid>
                <a:gridCol w="2686050">
                  <a:extLst>
                    <a:ext uri="{9D8B030D-6E8A-4147-A177-3AD203B41FA5}">
                      <a16:colId xmlns:a16="http://schemas.microsoft.com/office/drawing/2014/main" val="602838699"/>
                    </a:ext>
                  </a:extLst>
                </a:gridCol>
                <a:gridCol w="2686050">
                  <a:extLst>
                    <a:ext uri="{9D8B030D-6E8A-4147-A177-3AD203B41FA5}">
                      <a16:colId xmlns:a16="http://schemas.microsoft.com/office/drawing/2014/main" val="2671543330"/>
                    </a:ext>
                  </a:extLst>
                </a:gridCol>
                <a:gridCol w="2686050">
                  <a:extLst>
                    <a:ext uri="{9D8B030D-6E8A-4147-A177-3AD203B41FA5}">
                      <a16:colId xmlns:a16="http://schemas.microsoft.com/office/drawing/2014/main" val="4117156570"/>
                    </a:ext>
                  </a:extLst>
                </a:gridCol>
                <a:gridCol w="2686050">
                  <a:extLst>
                    <a:ext uri="{9D8B030D-6E8A-4147-A177-3AD203B41FA5}">
                      <a16:colId xmlns:a16="http://schemas.microsoft.com/office/drawing/2014/main" val="2518803208"/>
                    </a:ext>
                  </a:extLst>
                </a:gridCol>
              </a:tblGrid>
              <a:tr h="360554">
                <a:tc>
                  <a:txBody>
                    <a:bodyPr/>
                    <a:lstStyle/>
                    <a:p>
                      <a:pPr>
                        <a:buNone/>
                      </a:pPr>
                      <a:r>
                        <a:rPr lang="en-IN" b="1" dirty="0">
                          <a:solidFill>
                            <a:schemeClr val="bg2">
                              <a:lumMod val="90000"/>
                            </a:schemeClr>
                          </a:solidFill>
                          <a:effectLst/>
                        </a:rPr>
                        <a:t>Persona</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dirty="0">
                          <a:solidFill>
                            <a:schemeClr val="bg2">
                              <a:lumMod val="90000"/>
                            </a:schemeClr>
                          </a:solidFill>
                          <a:effectLst/>
                        </a:rPr>
                        <a:t>Situation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dirty="0">
                          <a:solidFill>
                            <a:schemeClr val="bg2">
                              <a:lumMod val="90000"/>
                            </a:schemeClr>
                          </a:solidFill>
                          <a:effectLst/>
                        </a:rPr>
                        <a:t>Risk</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2">
                              <a:lumMod val="90000"/>
                            </a:schemeClr>
                          </a:solidFill>
                          <a:effectLst/>
                        </a:rPr>
                        <a:t>How GuardianAI Helps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000354216"/>
                  </a:ext>
                </a:extLst>
              </a:tr>
              <a:tr h="942989">
                <a:tc>
                  <a:txBody>
                    <a:bodyPr/>
                    <a:lstStyle/>
                    <a:p>
                      <a:pPr>
                        <a:buNone/>
                      </a:pPr>
                      <a:r>
                        <a:rPr lang="en-IN">
                          <a:solidFill>
                            <a:schemeClr val="bg2">
                              <a:lumMod val="90000"/>
                            </a:schemeClr>
                          </a:solidFill>
                          <a:effectLst/>
                        </a:rPr>
                        <a:t>Student buyer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2">
                              <a:lumMod val="90000"/>
                            </a:schemeClr>
                          </a:solidFill>
                          <a:effectLst/>
                        </a:rPr>
                        <a:t>Fast online purchase during time pressure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2">
                              <a:lumMod val="90000"/>
                            </a:schemeClr>
                          </a:solidFill>
                          <a:effectLst/>
                        </a:rPr>
                        <a:t>Hidden fees, auto-renew traps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2">
                              <a:lumMod val="90000"/>
                            </a:schemeClr>
                          </a:solidFill>
                          <a:effectLst/>
                        </a:rPr>
                        <a:t>Scans checkout page, flags hidden cost progression before payment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32517897"/>
                  </a:ext>
                </a:extLst>
              </a:tr>
              <a:tr h="942989">
                <a:tc>
                  <a:txBody>
                    <a:bodyPr/>
                    <a:lstStyle/>
                    <a:p>
                      <a:pPr>
                        <a:buNone/>
                      </a:pPr>
                      <a:r>
                        <a:rPr lang="en-IN">
                          <a:solidFill>
                            <a:schemeClr val="bg2">
                              <a:lumMod val="90000"/>
                            </a:schemeClr>
                          </a:solidFill>
                          <a:effectLst/>
                        </a:rPr>
                        <a:t>Freelancer / founder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bg2">
                              <a:lumMod val="90000"/>
                            </a:schemeClr>
                          </a:solidFill>
                          <a:effectLst/>
                        </a:rPr>
                        <a:t>Subscribes to SaaS tools frequently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2">
                              <a:lumMod val="90000"/>
                            </a:schemeClr>
                          </a:solidFill>
                          <a:effectLst/>
                        </a:rPr>
                        <a:t>Forced continuity, difficult cancellation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2">
                              <a:lumMod val="90000"/>
                            </a:schemeClr>
                          </a:solidFill>
                          <a:effectLst/>
                        </a:rPr>
                        <a:t>Identifies lock-in clauses in ToS, warns about cancellation friction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562834536"/>
                  </a:ext>
                </a:extLst>
              </a:tr>
              <a:tr h="942989">
                <a:tc>
                  <a:txBody>
                    <a:bodyPr/>
                    <a:lstStyle/>
                    <a:p>
                      <a:pPr>
                        <a:buNone/>
                      </a:pPr>
                      <a:r>
                        <a:rPr lang="en-IN">
                          <a:solidFill>
                            <a:schemeClr val="bg2">
                              <a:lumMod val="90000"/>
                            </a:schemeClr>
                          </a:solidFill>
                          <a:effectLst/>
                        </a:rPr>
                        <a:t>Family decision-maker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2">
                              <a:lumMod val="90000"/>
                            </a:schemeClr>
                          </a:solidFill>
                          <a:effectLst/>
                        </a:rPr>
                        <a:t>Uses gaming/entertainment apps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lgn="l">
                        <a:buNone/>
                      </a:pPr>
                      <a:r>
                        <a:rPr lang="en-IN" dirty="0">
                          <a:solidFill>
                            <a:schemeClr val="bg2">
                              <a:lumMod val="90000"/>
                            </a:schemeClr>
                          </a:solidFill>
                          <a:effectLst/>
                        </a:rPr>
                        <a:t>Urgency manipulation, deceptive upsells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2">
                              <a:lumMod val="90000"/>
                            </a:schemeClr>
                          </a:solidFill>
                          <a:effectLst/>
                        </a:rPr>
                        <a:t>Detects fake scarcity signals and manipulative upsell flows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524360893"/>
                  </a:ext>
                </a:extLst>
              </a:tr>
              <a:tr h="942989">
                <a:tc>
                  <a:txBody>
                    <a:bodyPr/>
                    <a:lstStyle/>
                    <a:p>
                      <a:pPr>
                        <a:buNone/>
                      </a:pPr>
                      <a:r>
                        <a:rPr lang="en-IN">
                          <a:solidFill>
                            <a:schemeClr val="bg2">
                              <a:lumMod val="90000"/>
                            </a:schemeClr>
                          </a:solidFill>
                          <a:effectLst/>
                        </a:rPr>
                        <a:t>General consumer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2">
                              <a:lumMod val="90000"/>
                            </a:schemeClr>
                          </a:solidFill>
                          <a:effectLst/>
                        </a:rPr>
                        <a:t>Accepts terms quickly on mobile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2">
                              <a:lumMod val="90000"/>
                            </a:schemeClr>
                          </a:solidFill>
                          <a:effectLst/>
                        </a:rPr>
                        <a:t>Buried consent and legal disadvantage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bg2">
                              <a:lumMod val="90000"/>
                            </a:schemeClr>
                          </a:solidFill>
                          <a:effectLst/>
                        </a:rPr>
                        <a:t>Extracts and scores high-risk </a:t>
                      </a:r>
                      <a:r>
                        <a:rPr lang="en-US" dirty="0" err="1">
                          <a:solidFill>
                            <a:schemeClr val="bg2">
                              <a:lumMod val="90000"/>
                            </a:schemeClr>
                          </a:solidFill>
                          <a:effectLst/>
                        </a:rPr>
                        <a:t>ToS</a:t>
                      </a:r>
                      <a:r>
                        <a:rPr lang="en-US" dirty="0">
                          <a:solidFill>
                            <a:schemeClr val="bg2">
                              <a:lumMod val="90000"/>
                            </a:schemeClr>
                          </a:solidFill>
                          <a:effectLst/>
                        </a:rPr>
                        <a:t> clauses in plain language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986707301"/>
                  </a:ext>
                </a:extLst>
              </a:tr>
            </a:tbl>
          </a:graphicData>
        </a:graphic>
      </p:graphicFrame>
      <p:sp>
        <p:nvSpPr>
          <p:cNvPr id="8" name="TextBox 7">
            <a:extLst>
              <a:ext uri="{FF2B5EF4-FFF2-40B4-BE49-F238E27FC236}">
                <a16:creationId xmlns:a16="http://schemas.microsoft.com/office/drawing/2014/main" id="{3F153D2E-8678-B8F0-0620-332A9CDE33BA}"/>
              </a:ext>
            </a:extLst>
          </p:cNvPr>
          <p:cNvSpPr txBox="1"/>
          <p:nvPr/>
        </p:nvSpPr>
        <p:spPr>
          <a:xfrm>
            <a:off x="674427" y="1606125"/>
            <a:ext cx="6103960" cy="369332"/>
          </a:xfrm>
          <a:prstGeom prst="rect">
            <a:avLst/>
          </a:prstGeom>
          <a:noFill/>
        </p:spPr>
        <p:txBody>
          <a:bodyPr wrap="square">
            <a:spAutoFit/>
          </a:bodyPr>
          <a:lstStyle/>
          <a:p>
            <a:pPr algn="l">
              <a:spcBef>
                <a:spcPts val="1800"/>
              </a:spcBef>
              <a:spcAft>
                <a:spcPts val="1200"/>
              </a:spcAft>
              <a:buNone/>
            </a:pPr>
            <a:r>
              <a:rPr lang="en-IN" b="1" i="0" u="sng" dirty="0">
                <a:effectLst/>
                <a:latin typeface="Mona Sans VF"/>
              </a:rPr>
              <a:t>Who faces it (persona)-</a:t>
            </a:r>
          </a:p>
        </p:txBody>
      </p:sp>
    </p:spTree>
    <p:extLst>
      <p:ext uri="{BB962C8B-B14F-4D97-AF65-F5344CB8AC3E}">
        <p14:creationId xmlns:p14="http://schemas.microsoft.com/office/powerpoint/2010/main" val="1420658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28E6-1DF7-34BF-FF01-DD6C6D437D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70F2C4-D1D4-857D-33A6-B82D81A29ED9}"/>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32FD4E12-046C-6D3B-D325-57EBA8BF266E}"/>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536D86F4-7DC3-5149-A079-BA25CFD5A4AE}"/>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6872CF24-F261-7F1C-A821-3A42EA7B75BB}"/>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7A1B0D37-EA9A-B09C-783B-6B81866EBDC3}"/>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7F3C936E-C198-1FA4-5BC3-227F15034831}"/>
              </a:ext>
            </a:extLst>
          </p:cNvPr>
          <p:cNvSpPr txBox="1"/>
          <p:nvPr/>
        </p:nvSpPr>
        <p:spPr>
          <a:xfrm>
            <a:off x="609600" y="1768753"/>
            <a:ext cx="11078465" cy="3970318"/>
          </a:xfrm>
          <a:prstGeom prst="rect">
            <a:avLst/>
          </a:prstGeom>
          <a:noFill/>
        </p:spPr>
        <p:txBody>
          <a:bodyPr wrap="square" rtlCol="0">
            <a:spAutoFit/>
          </a:bodyPr>
          <a:lstStyle/>
          <a:p>
            <a:r>
              <a:rPr lang="en-US" b="1" u="sng" dirty="0"/>
              <a:t>Why is it important-</a:t>
            </a:r>
          </a:p>
          <a:p>
            <a:endParaRPr lang="en-US" b="1" dirty="0"/>
          </a:p>
          <a:p>
            <a:r>
              <a:rPr lang="en-US" dirty="0"/>
              <a:t>This matters because dark patterns create:</a:t>
            </a:r>
          </a:p>
          <a:p>
            <a:r>
              <a:rPr lang="en-US" b="1" dirty="0"/>
              <a:t>1.Direct financial harm</a:t>
            </a:r>
            <a:r>
              <a:rPr lang="en-US" dirty="0"/>
              <a:t> — Unintended recurring charges, hidden fees, and auto-renewals that collectively cost consumers billions annually</a:t>
            </a:r>
          </a:p>
          <a:p>
            <a:endParaRPr lang="en-US" dirty="0"/>
          </a:p>
          <a:p>
            <a:r>
              <a:rPr lang="en-US" b="1" dirty="0"/>
              <a:t>2.Privacy harm</a:t>
            </a:r>
            <a:r>
              <a:rPr lang="en-US" dirty="0"/>
              <a:t> — Excessive data-sharing consent obtained through confusing UI flows, leading to personal information being sold without informed agreement</a:t>
            </a:r>
          </a:p>
          <a:p>
            <a:endParaRPr lang="en-US" dirty="0"/>
          </a:p>
          <a:p>
            <a:r>
              <a:rPr lang="en-US" b="1" dirty="0"/>
              <a:t>3.rust erosion</a:t>
            </a:r>
            <a:r>
              <a:rPr lang="en-US" dirty="0"/>
              <a:t> — Repeated exposure to deceptive design erodes consumer trust in digital products, harming legitimate businesses alongside bad actors</a:t>
            </a:r>
          </a:p>
          <a:p>
            <a:endParaRPr lang="en-US" dirty="0"/>
          </a:p>
          <a:p>
            <a:r>
              <a:rPr lang="en-US" b="1" dirty="0"/>
              <a:t>4.Information asymmetry</a:t>
            </a:r>
            <a:r>
              <a:rPr lang="en-US" dirty="0"/>
              <a:t> — Platforms have teams of lawyers and UX designers optimizing for conversion; users have seconds to decide, often on a small mobile screen</a:t>
            </a:r>
          </a:p>
        </p:txBody>
      </p:sp>
    </p:spTree>
    <p:extLst>
      <p:ext uri="{BB962C8B-B14F-4D97-AF65-F5344CB8AC3E}">
        <p14:creationId xmlns:p14="http://schemas.microsoft.com/office/powerpoint/2010/main" val="679418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972800" cy="3970318"/>
          </a:xfrm>
          <a:prstGeom prst="rect">
            <a:avLst/>
          </a:prstGeom>
          <a:noFill/>
        </p:spPr>
        <p:txBody>
          <a:bodyPr wrap="square" rtlCol="0">
            <a:spAutoFit/>
          </a:bodyPr>
          <a:lstStyle/>
          <a:p>
            <a:r>
              <a:rPr lang="en-US" b="1" u="sng" dirty="0"/>
              <a:t>Existing solutions </a:t>
            </a:r>
            <a:r>
              <a:rPr lang="en-US" b="1" dirty="0"/>
              <a:t>-</a:t>
            </a:r>
          </a:p>
          <a:p>
            <a:endParaRPr lang="en-US" b="1" dirty="0"/>
          </a:p>
          <a:p>
            <a:r>
              <a:rPr lang="en-US" dirty="0"/>
              <a:t>Current alternatives include:</a:t>
            </a:r>
          </a:p>
          <a:p>
            <a:r>
              <a:rPr lang="en-US" b="1" dirty="0"/>
              <a:t>1.Browser privacy extensions and ad blockers</a:t>
            </a:r>
            <a:r>
              <a:rPr lang="en-US" dirty="0"/>
              <a:t> — Tools like </a:t>
            </a:r>
            <a:r>
              <a:rPr lang="en-US" dirty="0" err="1"/>
              <a:t>uBlock</a:t>
            </a:r>
            <a:r>
              <a:rPr lang="en-US" dirty="0"/>
              <a:t> Origin and Privacy Badger that block trackers but don't analyze UI manipulation or legal text</a:t>
            </a:r>
          </a:p>
          <a:p>
            <a:endParaRPr lang="en-US" dirty="0"/>
          </a:p>
          <a:p>
            <a:r>
              <a:rPr lang="en-US" b="1" dirty="0"/>
              <a:t>2.Manual legal review or policy reading tools</a:t>
            </a:r>
            <a:r>
              <a:rPr lang="en-US" dirty="0"/>
              <a:t> — Services like Terms of Service; Didn't Read (</a:t>
            </a:r>
            <a:r>
              <a:rPr lang="en-US" dirty="0" err="1"/>
              <a:t>ToS;DR</a:t>
            </a:r>
            <a:r>
              <a:rPr lang="en-US" dirty="0"/>
              <a:t>) that crowdsource </a:t>
            </a:r>
            <a:r>
              <a:rPr lang="en-US" dirty="0" err="1"/>
              <a:t>ToS</a:t>
            </a:r>
            <a:r>
              <a:rPr lang="en-US" dirty="0"/>
              <a:t> summaries, but rely on volunteer effort and lag behind policy changes</a:t>
            </a:r>
          </a:p>
          <a:p>
            <a:endParaRPr lang="en-US" dirty="0"/>
          </a:p>
          <a:p>
            <a:r>
              <a:rPr lang="en-US" b="1" dirty="0"/>
              <a:t>3.Consumer awareness portals and reporting websites</a:t>
            </a:r>
            <a:r>
              <a:rPr lang="en-US" dirty="0"/>
              <a:t> — Platforms like darkpatterns.org that catalog examples, but offer no real-time scanning or personalized protection</a:t>
            </a:r>
          </a:p>
          <a:p>
            <a:endParaRPr lang="en-US" dirty="0"/>
          </a:p>
          <a:p>
            <a:r>
              <a:rPr lang="en-US" b="1" dirty="0"/>
              <a:t>4.Isolated UX audits by experts</a:t>
            </a:r>
            <a:r>
              <a:rPr lang="en-US" dirty="0"/>
              <a:t> — Professional UX reviews that are expensive, slow, and not available to individual consumers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6023-E55B-685C-8BC6-5956BC39E5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26DDE8-8FB8-028A-9B77-53FDFA1318A8}"/>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568B84F2-BD29-C9F5-CB52-80E94BE3F126}"/>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3FF0CCD-5B5E-DE21-406F-7C92124AE0B9}"/>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DBBF6629-85F3-142F-2891-6CA1918A9C58}"/>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8F09EB06-358C-5976-9D35-E2FAFE002533}"/>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63228A86-1FE6-53E3-22B5-270E26F0DD90}"/>
              </a:ext>
            </a:extLst>
          </p:cNvPr>
          <p:cNvSpPr txBox="1"/>
          <p:nvPr/>
        </p:nvSpPr>
        <p:spPr>
          <a:xfrm>
            <a:off x="545911" y="1663125"/>
            <a:ext cx="11646089" cy="4524315"/>
          </a:xfrm>
          <a:prstGeom prst="rect">
            <a:avLst/>
          </a:prstGeom>
          <a:noFill/>
        </p:spPr>
        <p:txBody>
          <a:bodyPr wrap="square" rtlCol="0">
            <a:spAutoFit/>
          </a:bodyPr>
          <a:lstStyle/>
          <a:p>
            <a:r>
              <a:rPr lang="en-US" b="1" u="sng" dirty="0"/>
              <a:t>What's missing in those solutions-</a:t>
            </a:r>
          </a:p>
          <a:p>
            <a:endParaRPr lang="en-US" b="1" dirty="0"/>
          </a:p>
          <a:p>
            <a:r>
              <a:rPr lang="en-US" dirty="0"/>
              <a:t>Common gaps:</a:t>
            </a:r>
          </a:p>
          <a:p>
            <a:r>
              <a:rPr lang="en-US" b="1" dirty="0"/>
              <a:t>1.No unified UI + </a:t>
            </a:r>
            <a:r>
              <a:rPr lang="en-US" b="1" dirty="0" err="1"/>
              <a:t>ToS</a:t>
            </a:r>
            <a:r>
              <a:rPr lang="en-US" b="1" dirty="0"/>
              <a:t> risk analysis in one user flow</a:t>
            </a:r>
            <a:r>
              <a:rPr lang="en-US" dirty="0"/>
              <a:t> — Existing tools analyze either the interface or the legal text, never both simultaneously</a:t>
            </a:r>
          </a:p>
          <a:p>
            <a:endParaRPr lang="en-US" dirty="0"/>
          </a:p>
          <a:p>
            <a:r>
              <a:rPr lang="en-US" b="1" dirty="0"/>
              <a:t>2.No conversational, real-time assistant for non-experts</a:t>
            </a:r>
            <a:r>
              <a:rPr lang="en-US" dirty="0"/>
              <a:t> — Current solutions require technical knowledge to interpret; they don't explain findings in plain language</a:t>
            </a:r>
          </a:p>
          <a:p>
            <a:endParaRPr lang="en-US" dirty="0"/>
          </a:p>
          <a:p>
            <a:r>
              <a:rPr lang="en-US" b="1" dirty="0"/>
              <a:t>3.No shared semantic memory that improves over time</a:t>
            </a:r>
            <a:r>
              <a:rPr lang="en-US" dirty="0"/>
              <a:t> — Each tool operates in isolation; one user's discovery doesn't help the next user</a:t>
            </a:r>
          </a:p>
          <a:p>
            <a:endParaRPr lang="en-US" dirty="0"/>
          </a:p>
          <a:p>
            <a:r>
              <a:rPr lang="en-US" b="1" dirty="0"/>
              <a:t>4.Limited explainability in plain user language</a:t>
            </a:r>
            <a:r>
              <a:rPr lang="en-US" dirty="0"/>
              <a:t> — Technical reports with jargon are useless for the 90% of users who need simple, actionable guidance</a:t>
            </a:r>
          </a:p>
          <a:p>
            <a:endParaRPr lang="en-US" dirty="0"/>
          </a:p>
          <a:p>
            <a:endParaRPr lang="en-US" dirty="0"/>
          </a:p>
        </p:txBody>
      </p:sp>
    </p:spTree>
    <p:extLst>
      <p:ext uri="{BB962C8B-B14F-4D97-AF65-F5344CB8AC3E}">
        <p14:creationId xmlns:p14="http://schemas.microsoft.com/office/powerpoint/2010/main" val="1683527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7BAB-62CE-8740-294A-2B1B064A48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5036BD-9D9C-0C42-B19C-22A30F268E7D}"/>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F5750CAD-55D6-4110-9C29-00EABA55821B}"/>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CDFE2B5-3EDA-F14D-FC34-A9D4E4D75E67}"/>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E7F75BA3-3764-4DAF-769D-2287F4A551B4}"/>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FA329BC6-5F0F-01A6-20F2-DACA809B4DD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704790BE-BC09-5FEB-3D16-631990EBAF69}"/>
              </a:ext>
            </a:extLst>
          </p:cNvPr>
          <p:cNvSpPr txBox="1"/>
          <p:nvPr/>
        </p:nvSpPr>
        <p:spPr>
          <a:xfrm>
            <a:off x="545912" y="1663125"/>
            <a:ext cx="10849970" cy="4524315"/>
          </a:xfrm>
          <a:prstGeom prst="rect">
            <a:avLst/>
          </a:prstGeom>
          <a:noFill/>
        </p:spPr>
        <p:txBody>
          <a:bodyPr wrap="square" rtlCol="0">
            <a:spAutoFit/>
          </a:bodyPr>
          <a:lstStyle/>
          <a:p>
            <a:r>
              <a:rPr lang="en-US" b="1" u="sng" dirty="0"/>
              <a:t>Opportunity-</a:t>
            </a:r>
          </a:p>
          <a:p>
            <a:endParaRPr lang="en-US" b="1" dirty="0"/>
          </a:p>
          <a:p>
            <a:r>
              <a:rPr lang="en-US" dirty="0" err="1"/>
              <a:t>GuardianAI</a:t>
            </a:r>
            <a:r>
              <a:rPr lang="en-US" dirty="0"/>
              <a:t> turns complex detection into a simple chat interaction:</a:t>
            </a:r>
          </a:p>
          <a:p>
            <a:endParaRPr lang="en-US" dirty="0"/>
          </a:p>
          <a:p>
            <a:r>
              <a:rPr lang="en-US" b="1" dirty="0"/>
              <a:t>1.User sends URL in Telegram</a:t>
            </a:r>
            <a:r>
              <a:rPr lang="en-US" dirty="0"/>
              <a:t> — Zero setup, no browser extension, no app install. Works on any device with Telegram.</a:t>
            </a:r>
          </a:p>
          <a:p>
            <a:endParaRPr lang="en-US" dirty="0"/>
          </a:p>
          <a:p>
            <a:r>
              <a:rPr lang="en-US" b="1" dirty="0"/>
              <a:t>2.System returns actionable risk assessment</a:t>
            </a:r>
            <a:r>
              <a:rPr lang="en-US" dirty="0"/>
              <a:t> — Structured report with severity scores, evidence citations, and a clear recommendation</a:t>
            </a:r>
          </a:p>
          <a:p>
            <a:endParaRPr lang="en-US" dirty="0"/>
          </a:p>
          <a:p>
            <a:r>
              <a:rPr lang="en-US" b="1" dirty="0"/>
              <a:t>3.Every scan enriches a shared intelligence layer</a:t>
            </a:r>
            <a:r>
              <a:rPr lang="en-US" dirty="0"/>
              <a:t> — The </a:t>
            </a:r>
            <a:r>
              <a:rPr lang="en-US" dirty="0" err="1"/>
              <a:t>ChromaDB</a:t>
            </a:r>
            <a:r>
              <a:rPr lang="en-US" dirty="0"/>
              <a:t> vector memory grows with each scan, making future detections more accurate and contextually grounded</a:t>
            </a:r>
          </a:p>
          <a:p>
            <a:endParaRPr lang="en-US" dirty="0"/>
          </a:p>
          <a:p>
            <a:r>
              <a:rPr lang="en-US" dirty="0"/>
              <a:t>This creates product opportunity across consumer safety, compliance support, and market transparency.</a:t>
            </a:r>
          </a:p>
          <a:p>
            <a:endParaRPr lang="en-US" dirty="0"/>
          </a:p>
          <a:p>
            <a:endParaRPr lang="en-US" dirty="0"/>
          </a:p>
        </p:txBody>
      </p:sp>
    </p:spTree>
    <p:extLst>
      <p:ext uri="{BB962C8B-B14F-4D97-AF65-F5344CB8AC3E}">
        <p14:creationId xmlns:p14="http://schemas.microsoft.com/office/powerpoint/2010/main" val="295299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Solutions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764832"/>
            <a:ext cx="10841904" cy="4247317"/>
          </a:xfrm>
          <a:prstGeom prst="rect">
            <a:avLst/>
          </a:prstGeom>
          <a:noFill/>
        </p:spPr>
        <p:txBody>
          <a:bodyPr wrap="square" rtlCol="0">
            <a:spAutoFit/>
          </a:bodyPr>
          <a:lstStyle/>
          <a:p>
            <a:r>
              <a:rPr lang="en-IN" b="1" u="sng" dirty="0"/>
              <a:t>What we built-</a:t>
            </a:r>
          </a:p>
          <a:p>
            <a:endParaRPr lang="en-IN" b="1" dirty="0"/>
          </a:p>
          <a:p>
            <a:r>
              <a:rPr lang="en-IN" dirty="0"/>
              <a:t>We built a deterministic AI agent on </a:t>
            </a:r>
            <a:r>
              <a:rPr lang="en-IN" dirty="0" err="1"/>
              <a:t>OpenClaw</a:t>
            </a:r>
            <a:r>
              <a:rPr lang="en-IN" dirty="0"/>
              <a:t> with Telegram delivery and four orchestrated skills:</a:t>
            </a:r>
          </a:p>
          <a:p>
            <a:r>
              <a:rPr lang="en-IN" b="1" dirty="0"/>
              <a:t>1.scrape.skill</a:t>
            </a:r>
            <a:r>
              <a:rPr lang="en-IN" dirty="0"/>
              <a:t> — Extracts UI DOM text and discovers/follows </a:t>
            </a:r>
            <a:r>
              <a:rPr lang="en-IN" dirty="0" err="1"/>
              <a:t>ToS</a:t>
            </a:r>
            <a:r>
              <a:rPr lang="en-IN" dirty="0"/>
              <a:t> links using Playwright headless browser, with Axios HTTP fallback for bot-resistant sites</a:t>
            </a:r>
          </a:p>
          <a:p>
            <a:endParaRPr lang="en-IN" dirty="0"/>
          </a:p>
          <a:p>
            <a:r>
              <a:rPr lang="en-IN" b="1" dirty="0"/>
              <a:t>2.analyseTos.skill</a:t>
            </a:r>
            <a:r>
              <a:rPr lang="en-IN" dirty="0"/>
              <a:t> — Chunks </a:t>
            </a:r>
            <a:r>
              <a:rPr lang="en-IN" dirty="0" err="1"/>
              <a:t>ToS</a:t>
            </a:r>
            <a:r>
              <a:rPr lang="en-IN" dirty="0"/>
              <a:t> into 512-token windows with 64-token overlap, pre-filters with Groq 8b (dropping ~65% irrelevant chunks), then deep-</a:t>
            </a:r>
            <a:r>
              <a:rPr lang="en-IN" dirty="0" err="1"/>
              <a:t>analyzes</a:t>
            </a:r>
            <a:r>
              <a:rPr lang="en-IN" dirty="0"/>
              <a:t> with Groq 70b for manipulative clauses</a:t>
            </a:r>
          </a:p>
          <a:p>
            <a:endParaRPr lang="en-IN" dirty="0"/>
          </a:p>
          <a:p>
            <a:r>
              <a:rPr lang="en-IN" b="1" dirty="0"/>
              <a:t>3.detectPatterns.skill</a:t>
            </a:r>
            <a:r>
              <a:rPr lang="en-IN" dirty="0"/>
              <a:t> — Retrieves top-5 similar historical patterns from </a:t>
            </a:r>
            <a:r>
              <a:rPr lang="en-IN" dirty="0" err="1"/>
              <a:t>ChromaDB</a:t>
            </a:r>
            <a:r>
              <a:rPr lang="en-IN" dirty="0"/>
              <a:t> as RAG context, classifies UI and </a:t>
            </a:r>
            <a:r>
              <a:rPr lang="en-IN" dirty="0" err="1"/>
              <a:t>ToS</a:t>
            </a:r>
            <a:r>
              <a:rPr lang="en-IN" dirty="0"/>
              <a:t> patterns with severity scoring (1-10), and flags novel patterns below the 0.75 cosine similarity threshold</a:t>
            </a:r>
          </a:p>
          <a:p>
            <a:endParaRPr lang="en-IN" dirty="0"/>
          </a:p>
          <a:p>
            <a:r>
              <a:rPr lang="en-IN" b="1" dirty="0"/>
              <a:t>4.generateResponse.skill</a:t>
            </a:r>
            <a:r>
              <a:rPr lang="en-IN" dirty="0"/>
              <a:t> — Formats findings into a Telegram-compliant plain text report (max 1000 chars) with risk emoji indicators</a:t>
            </a:r>
          </a:p>
          <a:p>
            <a:endParaRPr lang="en-IN" dirty="0"/>
          </a:p>
        </p:txBody>
      </p:sp>
    </p:spTree>
    <p:extLst>
      <p:ext uri="{BB962C8B-B14F-4D97-AF65-F5344CB8AC3E}">
        <p14:creationId xmlns:p14="http://schemas.microsoft.com/office/powerpoint/2010/main" val="1005258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23983-94CF-F3E4-1BB5-58F8C5F478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8C56B9-FBEC-4EE2-6456-3A1D4DA27FDB}"/>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7B28ED45-BAE8-E4D2-4727-37EFE070DCDD}"/>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55FF0059-6ED4-5337-0846-D1EDA092BAD5}"/>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844F15D1-669D-D311-E960-19C4EB9DEEC8}"/>
              </a:ext>
            </a:extLst>
          </p:cNvPr>
          <p:cNvSpPr/>
          <p:nvPr/>
        </p:nvSpPr>
        <p:spPr>
          <a:xfrm>
            <a:off x="309349" y="49372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Solutions</a:t>
            </a:r>
          </a:p>
        </p:txBody>
      </p:sp>
      <p:sp>
        <p:nvSpPr>
          <p:cNvPr id="18" name="Text 1">
            <a:extLst>
              <a:ext uri="{FF2B5EF4-FFF2-40B4-BE49-F238E27FC236}">
                <a16:creationId xmlns:a16="http://schemas.microsoft.com/office/drawing/2014/main" id="{1E0EB2E3-9555-FB6A-BF81-A710806B9338}"/>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7" name="TextBox 6">
            <a:extLst>
              <a:ext uri="{FF2B5EF4-FFF2-40B4-BE49-F238E27FC236}">
                <a16:creationId xmlns:a16="http://schemas.microsoft.com/office/drawing/2014/main" id="{1E5555AF-65A8-12DD-820B-6E98E2C3A986}"/>
              </a:ext>
            </a:extLst>
          </p:cNvPr>
          <p:cNvSpPr txBox="1"/>
          <p:nvPr/>
        </p:nvSpPr>
        <p:spPr>
          <a:xfrm>
            <a:off x="213814" y="1102501"/>
            <a:ext cx="12192000" cy="5632311"/>
          </a:xfrm>
          <a:prstGeom prst="rect">
            <a:avLst/>
          </a:prstGeom>
          <a:noFill/>
        </p:spPr>
        <p:txBody>
          <a:bodyPr wrap="square">
            <a:spAutoFit/>
          </a:bodyPr>
          <a:lstStyle/>
          <a:p>
            <a:r>
              <a:rPr lang="en-US" b="1" u="sng" dirty="0"/>
              <a:t>Core ideas explanation-</a:t>
            </a:r>
          </a:p>
          <a:p>
            <a:r>
              <a:rPr lang="en-US" b="1" dirty="0"/>
              <a:t>1.Deterministic chain, not improvisational routing</a:t>
            </a:r>
            <a:br>
              <a:rPr lang="en-US" dirty="0"/>
            </a:br>
            <a:r>
              <a:rPr lang="en-US" dirty="0"/>
              <a:t>The execution order is fixed (scrape → </a:t>
            </a:r>
            <a:r>
              <a:rPr lang="en-US" dirty="0" err="1"/>
              <a:t>analyseTos</a:t>
            </a:r>
            <a:r>
              <a:rPr lang="en-US" dirty="0"/>
              <a:t> → </a:t>
            </a:r>
            <a:r>
              <a:rPr lang="en-US" dirty="0" err="1"/>
              <a:t>detectPatterns</a:t>
            </a:r>
            <a:r>
              <a:rPr lang="en-US" dirty="0"/>
              <a:t> → </a:t>
            </a:r>
            <a:r>
              <a:rPr lang="en-US" dirty="0" err="1"/>
              <a:t>generateResponse</a:t>
            </a:r>
            <a:r>
              <a:rPr lang="en-US" dirty="0"/>
              <a:t>), making behavior predictable, testable, and demonstrable. No LLM decides what step to execute next — the Task Planner uses a rule-based router with a hardcoded skill chain. This eliminates the class of bugs where an AI agent "decides" to skip steps or execute them out of order.</a:t>
            </a:r>
          </a:p>
          <a:p>
            <a:r>
              <a:rPr lang="en-US" b="1" dirty="0"/>
              <a:t>2.Hybrid model assignment</a:t>
            </a:r>
            <a:br>
              <a:rPr lang="en-US" dirty="0"/>
            </a:br>
            <a:r>
              <a:rPr lang="en-US" dirty="0"/>
              <a:t>Smaller/fast model (llama3-8b-8192) handles filtering, formatting, and intent classification at near-zero latency. Stronger model (llama3-70b-8192) handles high-stakes reasoning: </a:t>
            </a:r>
            <a:r>
              <a:rPr lang="en-US" dirty="0" err="1"/>
              <a:t>ToS</a:t>
            </a:r>
            <a:r>
              <a:rPr lang="en-US" dirty="0"/>
              <a:t> deep analysis, pattern detection with RAG context, and research cross-mapping. This strategy cuts </a:t>
            </a:r>
            <a:r>
              <a:rPr lang="en-US" dirty="0" err="1"/>
              <a:t>Groq</a:t>
            </a:r>
            <a:r>
              <a:rPr lang="en-US" dirty="0"/>
              <a:t> 70b API usage by ~65% while maintaining accuracy on critical paths.</a:t>
            </a:r>
          </a:p>
          <a:p>
            <a:r>
              <a:rPr lang="en-US" b="1" dirty="0"/>
              <a:t>3.Three-layer memory system</a:t>
            </a:r>
            <a:br>
              <a:rPr lang="en-US" dirty="0"/>
            </a:br>
            <a:r>
              <a:rPr lang="en-US" dirty="0"/>
              <a:t>Behavioral rules (SOUL.md) provide static classification taxonomy. User-level episodic memory (memory.md) enables personalized context across sessions. Shared semantic memory (</a:t>
            </a:r>
            <a:r>
              <a:rPr lang="en-US" dirty="0" err="1"/>
              <a:t>ChromaDB</a:t>
            </a:r>
            <a:r>
              <a:rPr lang="en-US" dirty="0"/>
              <a:t>) enables community intelligence where every scan enriches future scans for all users.</a:t>
            </a:r>
          </a:p>
          <a:p>
            <a:r>
              <a:rPr lang="en-US" b="1" dirty="0"/>
              <a:t>4.Novelty detection by similarity threshold</a:t>
            </a:r>
            <a:br>
              <a:rPr lang="en-US" dirty="0"/>
            </a:br>
            <a:r>
              <a:rPr lang="en-US" dirty="0"/>
              <a:t>New pattern candidates are flagged when cosine similarity to all stored patterns is below 0.75. This threshold was chosen to balance sensitivity (catching genuinely new tactics) against false positives (flagging minor variations of known patterns). Novel patterns are queued for </a:t>
            </a:r>
            <a:r>
              <a:rPr lang="en-US" dirty="0" err="1"/>
              <a:t>ArXiv</a:t>
            </a:r>
            <a:r>
              <a:rPr lang="en-US" dirty="0"/>
              <a:t> cross-reference to link empirical detections to academic literature.</a:t>
            </a:r>
          </a:p>
          <a:p>
            <a:r>
              <a:rPr lang="en-US" b="1" dirty="0"/>
              <a:t>5.Community intelligence flywheel</a:t>
            </a:r>
            <a:br>
              <a:rPr lang="en-US" dirty="0"/>
            </a:br>
            <a:r>
              <a:rPr lang="en-US" dirty="0"/>
              <a:t>New scans improve future scans by enriching retrieval context. The system's accuracy is monotonically increasing with the number of scans processed — a property no single-user tool can replicate.</a:t>
            </a:r>
          </a:p>
        </p:txBody>
      </p:sp>
    </p:spTree>
    <p:extLst>
      <p:ext uri="{BB962C8B-B14F-4D97-AF65-F5344CB8AC3E}">
        <p14:creationId xmlns:p14="http://schemas.microsoft.com/office/powerpoint/2010/main" val="165863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FB0E-6FAD-A7F7-26AD-F8D416E9712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A3E99F-A241-26FC-1CC6-93E81E0FD448}"/>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F9C72544-1FE1-C70C-FC5F-EE201132B88C}"/>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E8C6936A-4973-2A82-D50E-17B99504904C}"/>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EFE1470A-A603-313A-321C-5315EE38FB77}"/>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Solutions</a:t>
            </a:r>
          </a:p>
        </p:txBody>
      </p:sp>
      <p:sp>
        <p:nvSpPr>
          <p:cNvPr id="18" name="Text 1">
            <a:extLst>
              <a:ext uri="{FF2B5EF4-FFF2-40B4-BE49-F238E27FC236}">
                <a16:creationId xmlns:a16="http://schemas.microsoft.com/office/drawing/2014/main" id="{8C5B3CC4-2612-13A9-686F-B1B0C0EBB4F2}"/>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graphicFrame>
        <p:nvGraphicFramePr>
          <p:cNvPr id="6" name="Table 5">
            <a:extLst>
              <a:ext uri="{FF2B5EF4-FFF2-40B4-BE49-F238E27FC236}">
                <a16:creationId xmlns:a16="http://schemas.microsoft.com/office/drawing/2014/main" id="{EB6690AB-1C21-CE0D-17A2-2158F0356775}"/>
              </a:ext>
            </a:extLst>
          </p:cNvPr>
          <p:cNvGraphicFramePr>
            <a:graphicFrameLocks noGrp="1"/>
          </p:cNvGraphicFramePr>
          <p:nvPr>
            <p:extLst>
              <p:ext uri="{D42A27DB-BD31-4B8C-83A1-F6EECF244321}">
                <p14:modId xmlns:p14="http://schemas.microsoft.com/office/powerpoint/2010/main" val="891010047"/>
              </p:ext>
            </p:extLst>
          </p:nvPr>
        </p:nvGraphicFramePr>
        <p:xfrm>
          <a:off x="609599" y="1870599"/>
          <a:ext cx="9305500" cy="4680325"/>
        </p:xfrm>
        <a:graphic>
          <a:graphicData uri="http://schemas.openxmlformats.org/drawingml/2006/table">
            <a:tbl>
              <a:tblPr/>
              <a:tblGrid>
                <a:gridCol w="2326375">
                  <a:extLst>
                    <a:ext uri="{9D8B030D-6E8A-4147-A177-3AD203B41FA5}">
                      <a16:colId xmlns:a16="http://schemas.microsoft.com/office/drawing/2014/main" val="216493536"/>
                    </a:ext>
                  </a:extLst>
                </a:gridCol>
                <a:gridCol w="2326375">
                  <a:extLst>
                    <a:ext uri="{9D8B030D-6E8A-4147-A177-3AD203B41FA5}">
                      <a16:colId xmlns:a16="http://schemas.microsoft.com/office/drawing/2014/main" val="2703766585"/>
                    </a:ext>
                  </a:extLst>
                </a:gridCol>
                <a:gridCol w="2326375">
                  <a:extLst>
                    <a:ext uri="{9D8B030D-6E8A-4147-A177-3AD203B41FA5}">
                      <a16:colId xmlns:a16="http://schemas.microsoft.com/office/drawing/2014/main" val="3455249087"/>
                    </a:ext>
                  </a:extLst>
                </a:gridCol>
                <a:gridCol w="2326375">
                  <a:extLst>
                    <a:ext uri="{9D8B030D-6E8A-4147-A177-3AD203B41FA5}">
                      <a16:colId xmlns:a16="http://schemas.microsoft.com/office/drawing/2014/main" val="537674952"/>
                    </a:ext>
                  </a:extLst>
                </a:gridCol>
              </a:tblGrid>
              <a:tr h="276508">
                <a:tc>
                  <a:txBody>
                    <a:bodyPr/>
                    <a:lstStyle/>
                    <a:p>
                      <a:pPr>
                        <a:buNone/>
                      </a:pPr>
                      <a:r>
                        <a:rPr lang="en-IN" sz="1400" b="1">
                          <a:solidFill>
                            <a:schemeClr val="bg1"/>
                          </a:solidFill>
                          <a:effectLst/>
                        </a:rPr>
                        <a:t>Feature</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b="1">
                          <a:solidFill>
                            <a:schemeClr val="bg1"/>
                          </a:solidFill>
                          <a:effectLst/>
                        </a:rPr>
                        <a:t>What it does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b="1">
                          <a:solidFill>
                            <a:schemeClr val="bg1"/>
                          </a:solidFill>
                          <a:effectLst/>
                        </a:rPr>
                        <a:t>User value</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b="1">
                          <a:solidFill>
                            <a:schemeClr val="bg1"/>
                          </a:solidFill>
                          <a:effectLst/>
                        </a:rPr>
                        <a:t>Technical detail</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599721184"/>
                  </a:ext>
                </a:extLst>
              </a:tr>
              <a:tr h="725283">
                <a:tc>
                  <a:txBody>
                    <a:bodyPr/>
                    <a:lstStyle/>
                    <a:p>
                      <a:pPr>
                        <a:buNone/>
                      </a:pPr>
                      <a:r>
                        <a:rPr lang="en-IN" sz="1400" dirty="0">
                          <a:solidFill>
                            <a:schemeClr val="bg1"/>
                          </a:solidFill>
                          <a:effectLst/>
                        </a:rPr>
                        <a:t>URL risk scan</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Detects dark patterns from UI + ToS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a:solidFill>
                            <a:schemeClr val="bg1"/>
                          </a:solidFill>
                          <a:effectLst/>
                        </a:rPr>
                        <a:t>Faster, safer decisions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Playwright DOM extraction + ToS link discovery</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480100690"/>
                  </a:ext>
                </a:extLst>
              </a:tr>
              <a:tr h="725283">
                <a:tc>
                  <a:txBody>
                    <a:bodyPr/>
                    <a:lstStyle/>
                    <a:p>
                      <a:pPr>
                        <a:buNone/>
                      </a:pPr>
                      <a:r>
                        <a:rPr lang="en-IN" sz="1400">
                          <a:solidFill>
                            <a:schemeClr val="bg1"/>
                          </a:solidFill>
                          <a:effectLst/>
                        </a:rPr>
                        <a:t>Severity scoring</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400" dirty="0">
                          <a:solidFill>
                            <a:schemeClr val="bg1"/>
                          </a:solidFill>
                          <a:effectLst/>
                        </a:rPr>
                        <a:t>Scores each finding (1-10)</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400">
                          <a:solidFill>
                            <a:schemeClr val="bg1"/>
                          </a:solidFill>
                          <a:effectLst/>
                        </a:rPr>
                        <a:t>Prioritizes high-risk issues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400">
                          <a:solidFill>
                            <a:schemeClr val="bg1"/>
                          </a:solidFill>
                          <a:effectLst/>
                        </a:rPr>
                        <a:t>Groq 70b severity classification with SOUL rubric</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50090972"/>
                  </a:ext>
                </a:extLst>
              </a:tr>
              <a:tr h="725283">
                <a:tc>
                  <a:txBody>
                    <a:bodyPr/>
                    <a:lstStyle/>
                    <a:p>
                      <a:pPr>
                        <a:buNone/>
                      </a:pPr>
                      <a:r>
                        <a:rPr lang="en-IN" sz="1400">
                          <a:solidFill>
                            <a:schemeClr val="bg1"/>
                          </a:solidFill>
                          <a:effectLst/>
                        </a:rPr>
                        <a:t>RAG context injection</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Uses top-5 similar historical cases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Better consistency and reasoning depth</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ChromaDB cosine similarity search + LLM prompt injection</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054416674"/>
                  </a:ext>
                </a:extLst>
              </a:tr>
              <a:tr h="725283">
                <a:tc>
                  <a:txBody>
                    <a:bodyPr/>
                    <a:lstStyle/>
                    <a:p>
                      <a:pPr>
                        <a:buNone/>
                      </a:pPr>
                      <a:r>
                        <a:rPr lang="en-IN" sz="1400">
                          <a:solidFill>
                            <a:schemeClr val="bg1"/>
                          </a:solidFill>
                          <a:effectLst/>
                        </a:rPr>
                        <a:t>Novel pattern flagging</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400">
                          <a:solidFill>
                            <a:schemeClr val="bg1"/>
                          </a:solidFill>
                          <a:effectLst/>
                        </a:rPr>
                        <a:t>Identifies unseen tactics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400">
                          <a:solidFill>
                            <a:schemeClr val="bg1"/>
                          </a:solidFill>
                          <a:effectLst/>
                        </a:rPr>
                        <a:t>Early warning + research relevance</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400">
                          <a:solidFill>
                            <a:schemeClr val="bg1"/>
                          </a:solidFill>
                          <a:effectLst/>
                        </a:rPr>
                        <a:t>Cosine threshold &lt; 0.75 triggers NOVEL flag + ArXiv queue</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008056381"/>
                  </a:ext>
                </a:extLst>
              </a:tr>
              <a:tr h="500895">
                <a:tc>
                  <a:txBody>
                    <a:bodyPr/>
                    <a:lstStyle/>
                    <a:p>
                      <a:pPr>
                        <a:buNone/>
                      </a:pPr>
                      <a:r>
                        <a:rPr lang="en-IN" sz="1400">
                          <a:solidFill>
                            <a:schemeClr val="bg1"/>
                          </a:solidFill>
                          <a:effectLst/>
                        </a:rPr>
                        <a:t>Plain-language report</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a:solidFill>
                            <a:schemeClr val="bg1"/>
                          </a:solidFill>
                          <a:effectLst/>
                        </a:rPr>
                        <a:t>Returns concise Telegram-safe result</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a:solidFill>
                            <a:schemeClr val="bg1"/>
                          </a:solidFill>
                          <a:effectLst/>
                        </a:rPr>
                        <a:t>High usability for non-experts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a:solidFill>
                            <a:schemeClr val="bg1"/>
                          </a:solidFill>
                          <a:effectLst/>
                        </a:rPr>
                        <a:t>Groq 8b formatter with emoji risk indicators</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954988052"/>
                  </a:ext>
                </a:extLst>
              </a:tr>
              <a:tr h="500895">
                <a:tc>
                  <a:txBody>
                    <a:bodyPr/>
                    <a:lstStyle/>
                    <a:p>
                      <a:pPr>
                        <a:buNone/>
                      </a:pPr>
                      <a:r>
                        <a:rPr lang="en-IN" sz="1400">
                          <a:solidFill>
                            <a:schemeClr val="bg1"/>
                          </a:solidFill>
                          <a:effectLst/>
                        </a:rPr>
                        <a:t>Watchlist monitoring</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400">
                          <a:solidFill>
                            <a:schemeClr val="bg1"/>
                          </a:solidFill>
                          <a:effectLst/>
                        </a:rPr>
                        <a:t>Tracks sites for changes weekly</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400">
                          <a:solidFill>
                            <a:schemeClr val="bg1"/>
                          </a:solidFill>
                          <a:effectLst/>
                        </a:rPr>
                        <a:t>Proactive protection</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400">
                          <a:solidFill>
                            <a:schemeClr val="bg1"/>
                          </a:solidFill>
                          <a:effectLst/>
                        </a:rPr>
                        <a:t>HEARTBEAT.md cron + diff detection</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664704624"/>
                  </a:ext>
                </a:extLst>
              </a:tr>
              <a:tr h="500895">
                <a:tc>
                  <a:txBody>
                    <a:bodyPr/>
                    <a:lstStyle/>
                    <a:p>
                      <a:pPr>
                        <a:buNone/>
                      </a:pPr>
                      <a:r>
                        <a:rPr lang="en-IN" sz="1400">
                          <a:solidFill>
                            <a:schemeClr val="bg1"/>
                          </a:solidFill>
                          <a:effectLst/>
                        </a:rPr>
                        <a:t>Episodic memory</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a:solidFill>
                            <a:schemeClr val="bg1"/>
                          </a:solidFill>
                          <a:effectLst/>
                        </a:rPr>
                        <a:t>Remembers user scan history</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400">
                          <a:solidFill>
                            <a:schemeClr val="bg1"/>
                          </a:solidFill>
                          <a:effectLst/>
                        </a:rPr>
                        <a:t>Personalized context</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400" dirty="0">
                          <a:solidFill>
                            <a:schemeClr val="bg1"/>
                          </a:solidFill>
                          <a:effectLst/>
                        </a:rPr>
                        <a:t>Per-user markdown files in memory/ folder</a:t>
                      </a:r>
                    </a:p>
                  </a:txBody>
                  <a:tcPr marL="53690" marR="53690" marT="24780" marB="2478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533774278"/>
                  </a:ext>
                </a:extLst>
              </a:tr>
            </a:tbl>
          </a:graphicData>
        </a:graphic>
      </p:graphicFrame>
      <p:sp>
        <p:nvSpPr>
          <p:cNvPr id="9" name="TextBox 8">
            <a:extLst>
              <a:ext uri="{FF2B5EF4-FFF2-40B4-BE49-F238E27FC236}">
                <a16:creationId xmlns:a16="http://schemas.microsoft.com/office/drawing/2014/main" id="{430E904D-38CF-B8E4-641E-D58B49FF45F0}"/>
              </a:ext>
            </a:extLst>
          </p:cNvPr>
          <p:cNvSpPr txBox="1"/>
          <p:nvPr/>
        </p:nvSpPr>
        <p:spPr>
          <a:xfrm>
            <a:off x="479378" y="1369475"/>
            <a:ext cx="6103960" cy="369332"/>
          </a:xfrm>
          <a:prstGeom prst="rect">
            <a:avLst/>
          </a:prstGeom>
          <a:noFill/>
        </p:spPr>
        <p:txBody>
          <a:bodyPr wrap="square">
            <a:spAutoFit/>
          </a:bodyPr>
          <a:lstStyle/>
          <a:p>
            <a:pPr algn="l">
              <a:spcBef>
                <a:spcPts val="1800"/>
              </a:spcBef>
              <a:spcAft>
                <a:spcPts val="1200"/>
              </a:spcAft>
              <a:buNone/>
            </a:pPr>
            <a:r>
              <a:rPr lang="en-IN" b="1" i="0" u="sng" dirty="0">
                <a:effectLst/>
                <a:latin typeface="Mona Sans VF"/>
              </a:rPr>
              <a:t>Key features-</a:t>
            </a:r>
          </a:p>
        </p:txBody>
      </p:sp>
    </p:spTree>
    <p:extLst>
      <p:ext uri="{BB962C8B-B14F-4D97-AF65-F5344CB8AC3E}">
        <p14:creationId xmlns:p14="http://schemas.microsoft.com/office/powerpoint/2010/main" val="410956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5078313"/>
          </a:xfrm>
          <a:prstGeom prst="rect">
            <a:avLst/>
          </a:prstGeom>
          <a:noFill/>
        </p:spPr>
        <p:txBody>
          <a:bodyPr wrap="square" rtlCol="0">
            <a:spAutoFit/>
          </a:bodyPr>
          <a:lstStyle/>
          <a:p>
            <a:r>
              <a:rPr lang="en-IN" sz="2800" b="1" u="sng" dirty="0"/>
              <a:t>Screen / flow-</a:t>
            </a:r>
          </a:p>
          <a:p>
            <a:endParaRPr lang="en-IN" sz="2000" b="1" u="sng" dirty="0"/>
          </a:p>
          <a:p>
            <a:r>
              <a:rPr lang="en-IN" sz="2000" b="1" i="1" u="sng" dirty="0"/>
              <a:t>User chat flow (Telegram)</a:t>
            </a:r>
          </a:p>
          <a:p>
            <a:endParaRPr lang="en-IN" sz="2000" b="1" i="1" u="sng" dirty="0"/>
          </a:p>
          <a:p>
            <a:r>
              <a:rPr lang="en-US" sz="2000" b="1" dirty="0"/>
              <a:t>[User] /start</a:t>
            </a:r>
          </a:p>
          <a:p>
            <a:r>
              <a:rPr lang="en-US" sz="2000" b="1" dirty="0"/>
              <a:t>[Bot ] Welcome! Send: Scan https://example.com</a:t>
            </a:r>
          </a:p>
          <a:p>
            <a:endParaRPr lang="en-US" sz="2000" b="1" dirty="0"/>
          </a:p>
          <a:p>
            <a:r>
              <a:rPr lang="en-US" sz="2000" b="1" dirty="0"/>
              <a:t>[User] Scan https://example.com</a:t>
            </a:r>
          </a:p>
          <a:p>
            <a:r>
              <a:rPr lang="en-US" sz="2000" b="1" dirty="0"/>
              <a:t>[Bot ] Scanning UI + </a:t>
            </a:r>
            <a:r>
              <a:rPr lang="en-US" sz="2000" b="1" dirty="0" err="1"/>
              <a:t>ToS</a:t>
            </a:r>
            <a:r>
              <a:rPr lang="en-US" sz="2000" b="1" dirty="0"/>
              <a:t>...</a:t>
            </a:r>
          </a:p>
          <a:p>
            <a:r>
              <a:rPr lang="en-US" sz="2000" b="1" dirty="0"/>
              <a:t>[Bot ] Risk: MEDIUM</a:t>
            </a:r>
          </a:p>
          <a:p>
            <a:r>
              <a:rPr lang="en-US" sz="2000" b="1" dirty="0"/>
              <a:t>       - Hidden costs detected...</a:t>
            </a:r>
          </a:p>
          <a:p>
            <a:r>
              <a:rPr lang="en-US" sz="2000" b="1" dirty="0"/>
              <a:t>       - Forced continuity signal...</a:t>
            </a:r>
          </a:p>
          <a:p>
            <a:r>
              <a:rPr lang="en-US" sz="2000" b="1" dirty="0"/>
              <a:t>       Recommendation: Review cancellation and billing terms before proceeding.</a:t>
            </a:r>
            <a:endParaRPr lang="en-IN" sz="2000" b="1" dirty="0"/>
          </a:p>
          <a:p>
            <a:endParaRPr lang="en-IN" b="1" u="sng" dirty="0"/>
          </a:p>
          <a:p>
            <a:endParaRPr lang="en-IN" dirty="0"/>
          </a:p>
        </p:txBody>
      </p:sp>
    </p:spTree>
    <p:extLst>
      <p:ext uri="{BB962C8B-B14F-4D97-AF65-F5344CB8AC3E}">
        <p14:creationId xmlns:p14="http://schemas.microsoft.com/office/powerpoint/2010/main" val="452960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8FEB7-C872-55C2-FB67-75BB47F4A2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83EC02-1DEB-E9A2-7FDF-CA81EDDD3C9E}"/>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9F8FEA9F-23D2-66F1-E607-95CD3F01307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9073834-A980-2B34-EF7A-852CC829DAB9}"/>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70BBD886-3EC7-5569-3C98-065FD140479E}"/>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A0C9168A-ED38-E93F-66AE-FA689D4385DC}"/>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1153A9D2-5AA2-56EA-3EE2-D0B77ABC6E34}"/>
              </a:ext>
            </a:extLst>
          </p:cNvPr>
          <p:cNvSpPr txBox="1"/>
          <p:nvPr/>
        </p:nvSpPr>
        <p:spPr>
          <a:xfrm>
            <a:off x="740496" y="1682945"/>
            <a:ext cx="11269534" cy="3293209"/>
          </a:xfrm>
          <a:prstGeom prst="rect">
            <a:avLst/>
          </a:prstGeom>
          <a:noFill/>
        </p:spPr>
        <p:txBody>
          <a:bodyPr wrap="square" rtlCol="0">
            <a:spAutoFit/>
          </a:bodyPr>
          <a:lstStyle/>
          <a:p>
            <a:r>
              <a:rPr lang="en-US" sz="2800" b="1" u="sng" dirty="0"/>
              <a:t>How user interacts-</a:t>
            </a:r>
          </a:p>
          <a:p>
            <a:r>
              <a:rPr lang="en-US" b="1" dirty="0"/>
              <a:t>Opens Telegram and starts </a:t>
            </a:r>
            <a:r>
              <a:rPr lang="en-US" b="1" dirty="0" err="1"/>
              <a:t>GuardianAI</a:t>
            </a:r>
            <a:r>
              <a:rPr lang="en-US" b="1" dirty="0"/>
              <a:t> bot</a:t>
            </a:r>
            <a:r>
              <a:rPr lang="en-US" dirty="0"/>
              <a:t> — Search @guardianai_bot in Telegram, tap Start. No signup, no app install, no browser extension needed.</a:t>
            </a:r>
          </a:p>
          <a:p>
            <a:r>
              <a:rPr lang="en-US" b="1" dirty="0"/>
              <a:t>Sends command with URL</a:t>
            </a:r>
            <a:r>
              <a:rPr lang="en-US" dirty="0"/>
              <a:t> (e.g., Scan https://...) — The bot accepts natural language; intent classification routes the message to the correct skill chain.</a:t>
            </a:r>
          </a:p>
          <a:p>
            <a:r>
              <a:rPr lang="en-US" b="1" dirty="0"/>
              <a:t>Receives structured risk output</a:t>
            </a:r>
            <a:r>
              <a:rPr lang="en-US" dirty="0"/>
              <a:t> with evidence and severity — Each finding includes the specific UI text or </a:t>
            </a:r>
            <a:r>
              <a:rPr lang="en-US" dirty="0" err="1"/>
              <a:t>ToS</a:t>
            </a:r>
            <a:r>
              <a:rPr lang="en-US" dirty="0"/>
              <a:t> clause as evidence, a severity score (1-10), and pattern type classification.</a:t>
            </a:r>
          </a:p>
          <a:p>
            <a:r>
              <a:rPr lang="en-US" b="1" dirty="0"/>
              <a:t>Uses follow-up commands</a:t>
            </a:r>
            <a:r>
              <a:rPr lang="en-US" dirty="0"/>
              <a:t> — EXPLAIN for detailed breakdown of last scan, watch &lt;</a:t>
            </a:r>
            <a:r>
              <a:rPr lang="en-US" dirty="0" err="1"/>
              <a:t>url</a:t>
            </a:r>
            <a:r>
              <a:rPr lang="en-US" dirty="0"/>
              <a:t>&gt; to add to weekly monitoring watchlist, /new to reset session.</a:t>
            </a:r>
          </a:p>
          <a:p>
            <a:endParaRPr lang="en-IN" b="1" u="sng" dirty="0"/>
          </a:p>
          <a:p>
            <a:endParaRPr lang="en-IN" dirty="0"/>
          </a:p>
        </p:txBody>
      </p:sp>
      <p:pic>
        <p:nvPicPr>
          <p:cNvPr id="7" name="Picture 6">
            <a:extLst>
              <a:ext uri="{FF2B5EF4-FFF2-40B4-BE49-F238E27FC236}">
                <a16:creationId xmlns:a16="http://schemas.microsoft.com/office/drawing/2014/main" id="{2A2CFD78-9049-285A-B39C-2E187A67B7A3}"/>
              </a:ext>
            </a:extLst>
          </p:cNvPr>
          <p:cNvPicPr>
            <a:picLocks noChangeAspect="1"/>
          </p:cNvPicPr>
          <p:nvPr/>
        </p:nvPicPr>
        <p:blipFill>
          <a:blip r:embed="rId3"/>
          <a:stretch>
            <a:fillRect/>
          </a:stretch>
        </p:blipFill>
        <p:spPr>
          <a:xfrm>
            <a:off x="740496" y="4659312"/>
            <a:ext cx="9361959" cy="1360750"/>
          </a:xfrm>
          <a:prstGeom prst="rect">
            <a:avLst/>
          </a:prstGeom>
        </p:spPr>
      </p:pic>
    </p:spTree>
    <p:extLst>
      <p:ext uri="{BB962C8B-B14F-4D97-AF65-F5344CB8AC3E}">
        <p14:creationId xmlns:p14="http://schemas.microsoft.com/office/powerpoint/2010/main" val="3819373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24443-E166-0324-7EA2-18F6D80831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F9F780-334C-9036-B51C-5EEF1C7E6F21}"/>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CFC91A91-E08B-47DF-3410-3DFA59F903C0}"/>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68308F9A-FFD7-8F42-982D-1BE47B789DAF}"/>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C6941479-E108-C25E-F8EB-88A0BE21B2FD}"/>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8F388D9C-29AA-0609-6761-CB4072771B3F}"/>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3AC8D29D-4A59-8D1A-6F70-4C376B885DEB}"/>
              </a:ext>
            </a:extLst>
          </p:cNvPr>
          <p:cNvSpPr txBox="1"/>
          <p:nvPr/>
        </p:nvSpPr>
        <p:spPr>
          <a:xfrm>
            <a:off x="740496" y="1682945"/>
            <a:ext cx="11269534" cy="3724096"/>
          </a:xfrm>
          <a:prstGeom prst="rect">
            <a:avLst/>
          </a:prstGeom>
          <a:noFill/>
        </p:spPr>
        <p:txBody>
          <a:bodyPr wrap="square" rtlCol="0">
            <a:spAutoFit/>
          </a:bodyPr>
          <a:lstStyle/>
          <a:p>
            <a:r>
              <a:rPr lang="en-US" sz="2800" b="1" u="sng" dirty="0"/>
              <a:t>Key moments-</a:t>
            </a:r>
          </a:p>
          <a:p>
            <a:endParaRPr lang="en-US" sz="2800" b="1" u="sng" dirty="0"/>
          </a:p>
          <a:p>
            <a:r>
              <a:rPr lang="en-US" b="1" dirty="0"/>
              <a:t>1.Time-to-value moment:</a:t>
            </a:r>
            <a:r>
              <a:rPr lang="en-US" dirty="0"/>
              <a:t> First actionable risk report arrives from a single message — typically within 15-30 seconds. No setup, no configuration, no learning curve.</a:t>
            </a:r>
          </a:p>
          <a:p>
            <a:endParaRPr lang="en-US" dirty="0"/>
          </a:p>
          <a:p>
            <a:r>
              <a:rPr lang="en-US" b="1" dirty="0"/>
              <a:t>2.Trust moment:</a:t>
            </a:r>
            <a:r>
              <a:rPr lang="en-US" dirty="0"/>
              <a:t> Evidence lines map findings to visible UI/</a:t>
            </a:r>
            <a:r>
              <a:rPr lang="en-US" dirty="0" err="1"/>
              <a:t>ToS</a:t>
            </a:r>
            <a:r>
              <a:rPr lang="en-US" dirty="0"/>
              <a:t> text. Users can verify each finding themselves, building confidence in the system's accuracy.</a:t>
            </a:r>
          </a:p>
          <a:p>
            <a:endParaRPr lang="en-US" dirty="0"/>
          </a:p>
          <a:p>
            <a:r>
              <a:rPr lang="en-US" b="1" dirty="0"/>
              <a:t>3.Intelligence moment:</a:t>
            </a:r>
            <a:r>
              <a:rPr lang="en-US" dirty="0"/>
              <a:t> Repeated usage yields stronger contextual matches via shared memory. The 3rd scan on a similar site produces richer RAG context than the 1st.</a:t>
            </a:r>
          </a:p>
          <a:p>
            <a:endParaRPr lang="en-IN" b="1" u="sng" dirty="0"/>
          </a:p>
          <a:p>
            <a:endParaRPr lang="en-IN" dirty="0"/>
          </a:p>
        </p:txBody>
      </p:sp>
    </p:spTree>
    <p:extLst>
      <p:ext uri="{BB962C8B-B14F-4D97-AF65-F5344CB8AC3E}">
        <p14:creationId xmlns:p14="http://schemas.microsoft.com/office/powerpoint/2010/main" val="3702905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1928-2D27-9A03-8FEA-1D4F98E469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4199CC-4C51-F74D-94CE-AAC9E4258A00}"/>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A32ABB1A-B850-E8C4-FAF4-1D66CC37B898}"/>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0C1968F1-F538-9E65-5562-A04AC0DCED72}"/>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03756A6E-0ACD-632C-8F8A-FB0CB4995A74}"/>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071C1669-7CDF-76E2-EECE-C02F0B4001FB}"/>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50D41A66-041A-BD5F-CEE8-10E49C3855EA}"/>
              </a:ext>
            </a:extLst>
          </p:cNvPr>
          <p:cNvSpPr txBox="1"/>
          <p:nvPr/>
        </p:nvSpPr>
        <p:spPr>
          <a:xfrm>
            <a:off x="609600" y="1478807"/>
            <a:ext cx="5570547" cy="646331"/>
          </a:xfrm>
          <a:prstGeom prst="rect">
            <a:avLst/>
          </a:prstGeom>
          <a:noFill/>
        </p:spPr>
        <p:txBody>
          <a:bodyPr wrap="square" rtlCol="0">
            <a:spAutoFit/>
          </a:bodyPr>
          <a:lstStyle/>
          <a:p>
            <a:r>
              <a:rPr lang="en-IN" b="1" u="sng" dirty="0"/>
              <a:t>System Architecture Overview-</a:t>
            </a:r>
          </a:p>
          <a:p>
            <a:endParaRPr lang="en-IN" dirty="0"/>
          </a:p>
        </p:txBody>
      </p:sp>
      <p:pic>
        <p:nvPicPr>
          <p:cNvPr id="7" name="Picture 6">
            <a:extLst>
              <a:ext uri="{FF2B5EF4-FFF2-40B4-BE49-F238E27FC236}">
                <a16:creationId xmlns:a16="http://schemas.microsoft.com/office/drawing/2014/main" id="{BC83ECE3-5F16-AA0A-78C5-15E29D97AA55}"/>
              </a:ext>
            </a:extLst>
          </p:cNvPr>
          <p:cNvPicPr>
            <a:picLocks noChangeAspect="1"/>
          </p:cNvPicPr>
          <p:nvPr/>
        </p:nvPicPr>
        <p:blipFill>
          <a:blip r:embed="rId3"/>
          <a:stretch>
            <a:fillRect/>
          </a:stretch>
        </p:blipFill>
        <p:spPr>
          <a:xfrm>
            <a:off x="2670412" y="1938851"/>
            <a:ext cx="6612360" cy="5026356"/>
          </a:xfrm>
          <a:prstGeom prst="rect">
            <a:avLst/>
          </a:prstGeom>
        </p:spPr>
      </p:pic>
    </p:spTree>
    <p:extLst>
      <p:ext uri="{BB962C8B-B14F-4D97-AF65-F5344CB8AC3E}">
        <p14:creationId xmlns:p14="http://schemas.microsoft.com/office/powerpoint/2010/main" val="350531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graphicFrame>
        <p:nvGraphicFramePr>
          <p:cNvPr id="13" name="Table 12">
            <a:extLst>
              <a:ext uri="{FF2B5EF4-FFF2-40B4-BE49-F238E27FC236}">
                <a16:creationId xmlns:a16="http://schemas.microsoft.com/office/drawing/2014/main" id="{7DC3D5C8-7629-DA43-2488-AE518710EEC4}"/>
              </a:ext>
            </a:extLst>
          </p:cNvPr>
          <p:cNvGraphicFramePr>
            <a:graphicFrameLocks noGrp="1"/>
          </p:cNvGraphicFramePr>
          <p:nvPr>
            <p:extLst>
              <p:ext uri="{D42A27DB-BD31-4B8C-83A1-F6EECF244321}">
                <p14:modId xmlns:p14="http://schemas.microsoft.com/office/powerpoint/2010/main" val="2320274962"/>
              </p:ext>
            </p:extLst>
          </p:nvPr>
        </p:nvGraphicFramePr>
        <p:xfrm>
          <a:off x="609600" y="1880298"/>
          <a:ext cx="10153124" cy="4351338"/>
        </p:xfrm>
        <a:graphic>
          <a:graphicData uri="http://schemas.openxmlformats.org/drawingml/2006/table">
            <a:tbl>
              <a:tblPr/>
              <a:tblGrid>
                <a:gridCol w="2538281">
                  <a:extLst>
                    <a:ext uri="{9D8B030D-6E8A-4147-A177-3AD203B41FA5}">
                      <a16:colId xmlns:a16="http://schemas.microsoft.com/office/drawing/2014/main" val="23259195"/>
                    </a:ext>
                  </a:extLst>
                </a:gridCol>
                <a:gridCol w="2538281">
                  <a:extLst>
                    <a:ext uri="{9D8B030D-6E8A-4147-A177-3AD203B41FA5}">
                      <a16:colId xmlns:a16="http://schemas.microsoft.com/office/drawing/2014/main" val="3295217486"/>
                    </a:ext>
                  </a:extLst>
                </a:gridCol>
                <a:gridCol w="2538281">
                  <a:extLst>
                    <a:ext uri="{9D8B030D-6E8A-4147-A177-3AD203B41FA5}">
                      <a16:colId xmlns:a16="http://schemas.microsoft.com/office/drawing/2014/main" val="1892798064"/>
                    </a:ext>
                  </a:extLst>
                </a:gridCol>
                <a:gridCol w="2538281">
                  <a:extLst>
                    <a:ext uri="{9D8B030D-6E8A-4147-A177-3AD203B41FA5}">
                      <a16:colId xmlns:a16="http://schemas.microsoft.com/office/drawing/2014/main" val="4033244890"/>
                    </a:ext>
                  </a:extLst>
                </a:gridCol>
              </a:tblGrid>
              <a:tr h="327927">
                <a:tc>
                  <a:txBody>
                    <a:bodyPr/>
                    <a:lstStyle/>
                    <a:p>
                      <a:pPr>
                        <a:buNone/>
                      </a:pPr>
                      <a:r>
                        <a:rPr lang="en-IN" sz="1700" b="1">
                          <a:solidFill>
                            <a:schemeClr val="bg1"/>
                          </a:solidFill>
                          <a:effectLst/>
                        </a:rPr>
                        <a:t>Layer</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b="1">
                          <a:solidFill>
                            <a:schemeClr val="bg1"/>
                          </a:solidFill>
                          <a:effectLst/>
                        </a:rPr>
                        <a:t>Name</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b="1">
                          <a:solidFill>
                            <a:schemeClr val="bg1"/>
                          </a:solidFill>
                          <a:effectLst/>
                        </a:rPr>
                        <a:t>Role</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b="1">
                          <a:solidFill>
                            <a:schemeClr val="bg1"/>
                          </a:solidFill>
                          <a:effectLst/>
                        </a:rPr>
                        <a:t>Custom Code?</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091183923"/>
                  </a:ext>
                </a:extLst>
              </a:tr>
              <a:tr h="592791">
                <a:tc>
                  <a:txBody>
                    <a:bodyPr/>
                    <a:lstStyle/>
                    <a:p>
                      <a:pPr>
                        <a:buNone/>
                      </a:pPr>
                      <a:r>
                        <a:rPr lang="en-IN" sz="1700">
                          <a:solidFill>
                            <a:schemeClr val="bg1"/>
                          </a:solidFill>
                          <a:effectLst/>
                        </a:rPr>
                        <a:t>1</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dirty="0">
                          <a:solidFill>
                            <a:schemeClr val="bg1"/>
                          </a:solidFill>
                          <a:effectLst/>
                        </a:rPr>
                        <a:t>Communication Layer</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nb-NO" sz="1700">
                          <a:solidFill>
                            <a:schemeClr val="bg1"/>
                          </a:solidFill>
                          <a:effectLst/>
                        </a:rPr>
                        <a:t>Telegram Bot API — raw messaging platform</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a:solidFill>
                            <a:schemeClr val="bg1"/>
                          </a:solidFill>
                          <a:effectLst/>
                        </a:rPr>
                        <a:t>No — OpenClaw handles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48671668"/>
                  </a:ext>
                </a:extLst>
              </a:tr>
              <a:tr h="857655">
                <a:tc>
                  <a:txBody>
                    <a:bodyPr/>
                    <a:lstStyle/>
                    <a:p>
                      <a:pPr>
                        <a:buNone/>
                      </a:pPr>
                      <a:r>
                        <a:rPr lang="en-IN" sz="1700">
                          <a:solidFill>
                            <a:schemeClr val="bg1"/>
                          </a:solidFill>
                          <a:effectLst/>
                        </a:rPr>
                        <a:t>2</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700" dirty="0">
                          <a:solidFill>
                            <a:schemeClr val="bg1"/>
                          </a:solidFill>
                          <a:effectLst/>
                        </a:rPr>
                        <a:t>Channel Adapter</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700" dirty="0" err="1">
                          <a:solidFill>
                            <a:schemeClr val="bg1"/>
                          </a:solidFill>
                          <a:effectLst/>
                        </a:rPr>
                        <a:t>ProtocolAdapter</a:t>
                      </a:r>
                      <a:r>
                        <a:rPr lang="en-IN" sz="1700" dirty="0">
                          <a:solidFill>
                            <a:schemeClr val="bg1"/>
                          </a:solidFill>
                          <a:effectLst/>
                        </a:rPr>
                        <a:t> — normalizes platform payloads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700">
                          <a:solidFill>
                            <a:schemeClr val="bg1"/>
                          </a:solidFill>
                          <a:effectLst/>
                        </a:rPr>
                        <a:t>No — OpenClaw handles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4209800858"/>
                  </a:ext>
                </a:extLst>
              </a:tr>
              <a:tr h="857655">
                <a:tc>
                  <a:txBody>
                    <a:bodyPr/>
                    <a:lstStyle/>
                    <a:p>
                      <a:pPr>
                        <a:buNone/>
                      </a:pPr>
                      <a:r>
                        <a:rPr lang="en-IN" sz="1700">
                          <a:solidFill>
                            <a:schemeClr val="bg1"/>
                          </a:solidFill>
                          <a:effectLst/>
                        </a:rPr>
                        <a:t>3</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a:solidFill>
                            <a:schemeClr val="bg1"/>
                          </a:solidFill>
                          <a:effectLst/>
                        </a:rPr>
                        <a:t>Gateway (Control Plane)</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700">
                          <a:solidFill>
                            <a:schemeClr val="bg1"/>
                          </a:solidFill>
                          <a:effectLst/>
                        </a:rPr>
                        <a:t>TypeScript/Node.js WebSocket server — routing, auth, sessions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a:solidFill>
                            <a:schemeClr val="bg1"/>
                          </a:solidFill>
                          <a:effectLst/>
                        </a:rPr>
                        <a:t>No — OpenClaw handles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597359400"/>
                  </a:ext>
                </a:extLst>
              </a:tr>
              <a:tr h="857655">
                <a:tc>
                  <a:txBody>
                    <a:bodyPr/>
                    <a:lstStyle/>
                    <a:p>
                      <a:pPr>
                        <a:buNone/>
                      </a:pPr>
                      <a:r>
                        <a:rPr lang="en-IN" sz="1700">
                          <a:solidFill>
                            <a:schemeClr val="bg1"/>
                          </a:solidFill>
                          <a:effectLst/>
                        </a:rPr>
                        <a:t>4</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700">
                          <a:solidFill>
                            <a:schemeClr val="bg1"/>
                          </a:solidFill>
                          <a:effectLst/>
                        </a:rPr>
                        <a:t>Pi Engine (Agent Loop)</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700">
                          <a:solidFill>
                            <a:schemeClr val="bg1"/>
                          </a:solidFill>
                          <a:effectLst/>
                        </a:rPr>
                        <a:t>Reasoning core — event-driven execution, skill orchestration</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it-IT" sz="1700">
                          <a:solidFill>
                            <a:schemeClr val="bg1"/>
                          </a:solidFill>
                          <a:effectLst/>
                        </a:rPr>
                        <a:t>No — configured via SKILL.md</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805904108"/>
                  </a:ext>
                </a:extLst>
              </a:tr>
              <a:tr h="857655">
                <a:tc>
                  <a:txBody>
                    <a:bodyPr/>
                    <a:lstStyle/>
                    <a:p>
                      <a:pPr>
                        <a:buNone/>
                      </a:pPr>
                      <a:r>
                        <a:rPr lang="en-IN" sz="1700">
                          <a:solidFill>
                            <a:schemeClr val="bg1"/>
                          </a:solidFill>
                          <a:effectLst/>
                        </a:rPr>
                        <a:t>5</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700">
                          <a:solidFill>
                            <a:schemeClr val="bg1"/>
                          </a:solidFill>
                          <a:effectLst/>
                        </a:rPr>
                        <a:t>Skill Execution Layer</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700">
                          <a:solidFill>
                            <a:schemeClr val="bg1"/>
                          </a:solidFill>
                          <a:effectLst/>
                        </a:rPr>
                        <a:t>Invokes tools, runs shell commands, manages system actions</a:t>
                      </a: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700" b="1" dirty="0">
                          <a:solidFill>
                            <a:schemeClr val="bg1"/>
                          </a:solidFill>
                          <a:effectLst/>
                        </a:rPr>
                        <a:t>YES — we write all 4 skills</a:t>
                      </a:r>
                      <a:endParaRPr lang="en-US" sz="1700" dirty="0">
                        <a:solidFill>
                          <a:schemeClr val="bg1"/>
                        </a:solidFill>
                        <a:effectLst/>
                      </a:endParaRPr>
                    </a:p>
                  </a:txBody>
                  <a:tcPr marL="68318" marR="68318" marT="31531" marB="3153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222610497"/>
                  </a:ext>
                </a:extLst>
              </a:tr>
            </a:tbl>
          </a:graphicData>
        </a:graphic>
      </p:graphicFrame>
      <p:sp>
        <p:nvSpPr>
          <p:cNvPr id="15" name="TextBox 14">
            <a:extLst>
              <a:ext uri="{FF2B5EF4-FFF2-40B4-BE49-F238E27FC236}">
                <a16:creationId xmlns:a16="http://schemas.microsoft.com/office/drawing/2014/main" id="{1D91B8DE-7EC2-668B-E2B5-DE40A4974503}"/>
              </a:ext>
            </a:extLst>
          </p:cNvPr>
          <p:cNvSpPr txBox="1"/>
          <p:nvPr/>
        </p:nvSpPr>
        <p:spPr>
          <a:xfrm>
            <a:off x="609600" y="1449062"/>
            <a:ext cx="6103960" cy="369332"/>
          </a:xfrm>
          <a:prstGeom prst="rect">
            <a:avLst/>
          </a:prstGeom>
          <a:noFill/>
        </p:spPr>
        <p:txBody>
          <a:bodyPr wrap="square">
            <a:spAutoFit/>
          </a:bodyPr>
          <a:lstStyle/>
          <a:p>
            <a:pPr algn="l">
              <a:spcAft>
                <a:spcPts val="1200"/>
              </a:spcAft>
              <a:buNone/>
            </a:pPr>
            <a:r>
              <a:rPr lang="en-US" b="1" i="0" u="sng" dirty="0">
                <a:effectLst/>
                <a:latin typeface="Mona Sans VF"/>
              </a:rPr>
              <a:t>The architecture follows </a:t>
            </a:r>
            <a:r>
              <a:rPr lang="en-US" b="1" i="0" u="sng" dirty="0" err="1">
                <a:effectLst/>
                <a:latin typeface="Mona Sans VF"/>
              </a:rPr>
              <a:t>OpenClaw's</a:t>
            </a:r>
            <a:r>
              <a:rPr lang="en-US" b="1" i="0" u="sng" dirty="0">
                <a:effectLst/>
                <a:latin typeface="Mona Sans VF"/>
              </a:rPr>
              <a:t> native 5-layer model</a:t>
            </a:r>
            <a:r>
              <a:rPr lang="en-US" b="0" i="0" dirty="0">
                <a:effectLst/>
                <a:latin typeface="Mona Sans VF"/>
              </a:rPr>
              <a:t>:</a:t>
            </a:r>
          </a:p>
        </p:txBody>
      </p:sp>
    </p:spTree>
    <p:extLst>
      <p:ext uri="{BB962C8B-B14F-4D97-AF65-F5344CB8AC3E}">
        <p14:creationId xmlns:p14="http://schemas.microsoft.com/office/powerpoint/2010/main" val="56678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919EF-9878-6F87-C2DB-266287B0E3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00BFEA8-537F-05E9-0E7E-288243A61BF1}"/>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5FFC09CF-22A8-CE28-6898-30F684AB8821}"/>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CC7095F3-B3E0-AB53-CC40-C53EEC3CCEBA}"/>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E8C7AB21-9852-9CB6-FBB7-2AC1EE84316E}"/>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C8D1F3FA-5871-0988-9B73-1C91E620857D}"/>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7C231285-402C-8BEA-FF41-16F3086C1D36}"/>
              </a:ext>
            </a:extLst>
          </p:cNvPr>
          <p:cNvSpPr txBox="1"/>
          <p:nvPr/>
        </p:nvSpPr>
        <p:spPr>
          <a:xfrm>
            <a:off x="609600" y="1449149"/>
            <a:ext cx="6103960" cy="800219"/>
          </a:xfrm>
          <a:prstGeom prst="rect">
            <a:avLst/>
          </a:prstGeom>
          <a:noFill/>
        </p:spPr>
        <p:txBody>
          <a:bodyPr wrap="square">
            <a:spAutoFit/>
          </a:bodyPr>
          <a:lstStyle/>
          <a:p>
            <a:pPr algn="l">
              <a:spcAft>
                <a:spcPts val="1200"/>
              </a:spcAft>
              <a:buNone/>
            </a:pPr>
            <a:r>
              <a:rPr lang="en-US" b="1" i="0" u="sng" dirty="0">
                <a:effectLst/>
                <a:latin typeface="Mona Sans VF"/>
              </a:rPr>
              <a:t>Tech Stack-</a:t>
            </a:r>
          </a:p>
          <a:p>
            <a:pPr algn="l">
              <a:spcAft>
                <a:spcPts val="1200"/>
              </a:spcAft>
              <a:buNone/>
            </a:pPr>
            <a:endParaRPr lang="en-US" b="0" i="0" dirty="0">
              <a:effectLst/>
              <a:latin typeface="Mona Sans VF"/>
            </a:endParaRPr>
          </a:p>
        </p:txBody>
      </p:sp>
      <p:pic>
        <p:nvPicPr>
          <p:cNvPr id="9" name="Picture 8">
            <a:extLst>
              <a:ext uri="{FF2B5EF4-FFF2-40B4-BE49-F238E27FC236}">
                <a16:creationId xmlns:a16="http://schemas.microsoft.com/office/drawing/2014/main" id="{D32A91E7-A4D3-8094-B799-29AE82062C60}"/>
              </a:ext>
            </a:extLst>
          </p:cNvPr>
          <p:cNvPicPr>
            <a:picLocks noChangeAspect="1"/>
          </p:cNvPicPr>
          <p:nvPr/>
        </p:nvPicPr>
        <p:blipFill>
          <a:blip r:embed="rId3"/>
          <a:stretch>
            <a:fillRect/>
          </a:stretch>
        </p:blipFill>
        <p:spPr>
          <a:xfrm>
            <a:off x="700586" y="1882368"/>
            <a:ext cx="7180997" cy="4877627"/>
          </a:xfrm>
          <a:prstGeom prst="rect">
            <a:avLst/>
          </a:prstGeom>
        </p:spPr>
      </p:pic>
    </p:spTree>
    <p:extLst>
      <p:ext uri="{BB962C8B-B14F-4D97-AF65-F5344CB8AC3E}">
        <p14:creationId xmlns:p14="http://schemas.microsoft.com/office/powerpoint/2010/main" val="74172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F7AF9-39DD-67F8-6D2C-314D0F13AD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8CBB694-CBB0-410F-C0FB-6542FD0573A6}"/>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752DCF2A-0405-7245-4497-D47288420C09}"/>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A509986D-8131-6F21-1470-832107EE38D7}"/>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0B245637-4F7D-A0BD-3735-CEE506F37FE0}"/>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C518336B-0DDC-2842-EF51-A27CE72157B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4A255F2B-35DA-F5BC-4BFC-DFCB4AC21215}"/>
              </a:ext>
            </a:extLst>
          </p:cNvPr>
          <p:cNvSpPr txBox="1"/>
          <p:nvPr/>
        </p:nvSpPr>
        <p:spPr>
          <a:xfrm>
            <a:off x="609600" y="1449149"/>
            <a:ext cx="6103960" cy="1231106"/>
          </a:xfrm>
          <a:prstGeom prst="rect">
            <a:avLst/>
          </a:prstGeom>
          <a:noFill/>
        </p:spPr>
        <p:txBody>
          <a:bodyPr wrap="square">
            <a:spAutoFit/>
          </a:bodyPr>
          <a:lstStyle/>
          <a:p>
            <a:pPr algn="l">
              <a:spcAft>
                <a:spcPts val="1200"/>
              </a:spcAft>
              <a:buNone/>
            </a:pPr>
            <a:r>
              <a:rPr lang="en-US" b="1" i="0" u="sng" dirty="0">
                <a:effectLst/>
                <a:latin typeface="Mona Sans VF"/>
              </a:rPr>
              <a:t>Tech Stack-</a:t>
            </a:r>
          </a:p>
          <a:p>
            <a:pPr algn="l">
              <a:spcAft>
                <a:spcPts val="1200"/>
              </a:spcAft>
              <a:buNone/>
            </a:pPr>
            <a:endParaRPr lang="en-US" b="1" i="0" u="sng" dirty="0">
              <a:effectLst/>
              <a:latin typeface="Mona Sans VF"/>
            </a:endParaRPr>
          </a:p>
          <a:p>
            <a:pPr algn="l">
              <a:spcAft>
                <a:spcPts val="1200"/>
              </a:spcAft>
              <a:buNone/>
            </a:pPr>
            <a:endParaRPr lang="en-US" b="0" i="0" dirty="0">
              <a:effectLst/>
              <a:latin typeface="Mona Sans VF"/>
            </a:endParaRPr>
          </a:p>
        </p:txBody>
      </p:sp>
      <p:graphicFrame>
        <p:nvGraphicFramePr>
          <p:cNvPr id="6" name="Table 5">
            <a:extLst>
              <a:ext uri="{FF2B5EF4-FFF2-40B4-BE49-F238E27FC236}">
                <a16:creationId xmlns:a16="http://schemas.microsoft.com/office/drawing/2014/main" id="{6C91EEE5-BBF9-502C-A01D-36B1F26908CA}"/>
              </a:ext>
            </a:extLst>
          </p:cNvPr>
          <p:cNvGraphicFramePr>
            <a:graphicFrameLocks noGrp="1"/>
          </p:cNvGraphicFramePr>
          <p:nvPr>
            <p:extLst>
              <p:ext uri="{D42A27DB-BD31-4B8C-83A1-F6EECF244321}">
                <p14:modId xmlns:p14="http://schemas.microsoft.com/office/powerpoint/2010/main" val="2581235032"/>
              </p:ext>
            </p:extLst>
          </p:nvPr>
        </p:nvGraphicFramePr>
        <p:xfrm>
          <a:off x="969324" y="1911304"/>
          <a:ext cx="9887469" cy="4727238"/>
        </p:xfrm>
        <a:graphic>
          <a:graphicData uri="http://schemas.openxmlformats.org/drawingml/2006/table">
            <a:tbl>
              <a:tblPr/>
              <a:tblGrid>
                <a:gridCol w="3295823">
                  <a:extLst>
                    <a:ext uri="{9D8B030D-6E8A-4147-A177-3AD203B41FA5}">
                      <a16:colId xmlns:a16="http://schemas.microsoft.com/office/drawing/2014/main" val="1562587905"/>
                    </a:ext>
                  </a:extLst>
                </a:gridCol>
                <a:gridCol w="3295823">
                  <a:extLst>
                    <a:ext uri="{9D8B030D-6E8A-4147-A177-3AD203B41FA5}">
                      <a16:colId xmlns:a16="http://schemas.microsoft.com/office/drawing/2014/main" val="3643570505"/>
                    </a:ext>
                  </a:extLst>
                </a:gridCol>
                <a:gridCol w="3295823">
                  <a:extLst>
                    <a:ext uri="{9D8B030D-6E8A-4147-A177-3AD203B41FA5}">
                      <a16:colId xmlns:a16="http://schemas.microsoft.com/office/drawing/2014/main" val="3358965728"/>
                    </a:ext>
                  </a:extLst>
                </a:gridCol>
              </a:tblGrid>
              <a:tr h="223539">
                <a:tc>
                  <a:txBody>
                    <a:bodyPr/>
                    <a:lstStyle/>
                    <a:p>
                      <a:pPr>
                        <a:buNone/>
                      </a:pPr>
                      <a:r>
                        <a:rPr lang="en-IN" sz="1100" b="1">
                          <a:effectLst/>
                        </a:rPr>
                        <a:t>Layer</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b="1">
                          <a:effectLst/>
                        </a:rPr>
                        <a:t>Stack</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b="1">
                          <a:effectLst/>
                        </a:rPr>
                        <a:t>Why this choice</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063343290"/>
                  </a:ext>
                </a:extLst>
              </a:tr>
              <a:tr h="404651">
                <a:tc>
                  <a:txBody>
                    <a:bodyPr/>
                    <a:lstStyle/>
                    <a:p>
                      <a:pPr>
                        <a:buNone/>
                      </a:pPr>
                      <a:r>
                        <a:rPr lang="en-IN" sz="1100">
                          <a:solidFill>
                            <a:schemeClr val="bg1"/>
                          </a:solidFill>
                          <a:effectLst/>
                        </a:rPr>
                        <a:t>Runtime</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a:solidFill>
                            <a:schemeClr val="bg1"/>
                          </a:solidFill>
                          <a:effectLst/>
                        </a:rPr>
                        <a:t>Node.js 22</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100">
                          <a:solidFill>
                            <a:schemeClr val="bg1"/>
                          </a:solidFill>
                          <a:effectLst/>
                        </a:rPr>
                        <a:t>Required by OpenClaw framework — mandatory, not optional</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538368626"/>
                  </a:ext>
                </a:extLst>
              </a:tr>
              <a:tr h="577019">
                <a:tc>
                  <a:txBody>
                    <a:bodyPr/>
                    <a:lstStyle/>
                    <a:p>
                      <a:pPr>
                        <a:buNone/>
                      </a:pPr>
                      <a:r>
                        <a:rPr lang="en-IN" sz="1100">
                          <a:solidFill>
                            <a:schemeClr val="bg1"/>
                          </a:solidFill>
                          <a:effectLst/>
                        </a:rPr>
                        <a:t>Language</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100">
                          <a:solidFill>
                            <a:schemeClr val="bg1"/>
                          </a:solidFill>
                          <a:effectLst/>
                        </a:rPr>
                        <a:t>TypeScript</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100">
                          <a:solidFill>
                            <a:schemeClr val="bg1"/>
                          </a:solidFill>
                          <a:effectLst/>
                        </a:rPr>
                        <a:t>OpenClaw CLI and core are TypeScript-based; strict mode for reliability</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44376279"/>
                  </a:ext>
                </a:extLst>
              </a:tr>
              <a:tr h="577019">
                <a:tc>
                  <a:txBody>
                    <a:bodyPr/>
                    <a:lstStyle/>
                    <a:p>
                      <a:pPr>
                        <a:buNone/>
                      </a:pPr>
                      <a:r>
                        <a:rPr lang="en-IN" sz="1100">
                          <a:solidFill>
                            <a:schemeClr val="bg1"/>
                          </a:solidFill>
                          <a:effectLst/>
                        </a:rPr>
                        <a:t>Agent framework</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dirty="0" err="1">
                          <a:solidFill>
                            <a:schemeClr val="bg1"/>
                          </a:solidFill>
                          <a:effectLst/>
                        </a:rPr>
                        <a:t>OpenClaw</a:t>
                      </a:r>
                      <a:endParaRPr lang="en-IN" sz="1100" dirty="0">
                        <a:solidFill>
                          <a:schemeClr val="bg1"/>
                        </a:solidFill>
                        <a:effectLst/>
                      </a:endParaRP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100">
                          <a:solidFill>
                            <a:schemeClr val="bg1"/>
                          </a:solidFill>
                          <a:effectLst/>
                        </a:rPr>
                        <a:t>Hackathon requirement; provides 5-layer architecture, SOUL/SKILL system</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465268903"/>
                  </a:ext>
                </a:extLst>
              </a:tr>
              <a:tr h="404651">
                <a:tc>
                  <a:txBody>
                    <a:bodyPr/>
                    <a:lstStyle/>
                    <a:p>
                      <a:pPr>
                        <a:buNone/>
                      </a:pPr>
                      <a:r>
                        <a:rPr lang="en-IN" sz="1100">
                          <a:solidFill>
                            <a:schemeClr val="bg1"/>
                          </a:solidFill>
                          <a:effectLst/>
                        </a:rPr>
                        <a:t>Channel</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100">
                          <a:solidFill>
                            <a:schemeClr val="bg1"/>
                          </a:solidFill>
                          <a:effectLst/>
                        </a:rPr>
                        <a:t>Telegram Bot API</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100">
                          <a:solidFill>
                            <a:schemeClr val="bg1"/>
                          </a:solidFill>
                          <a:effectLst/>
                        </a:rPr>
                        <a:t>Free, instant setup via BotFather, no approval process, unlimited testers</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755355453"/>
                  </a:ext>
                </a:extLst>
              </a:tr>
              <a:tr h="577019">
                <a:tc>
                  <a:txBody>
                    <a:bodyPr/>
                    <a:lstStyle/>
                    <a:p>
                      <a:pPr>
                        <a:buNone/>
                      </a:pPr>
                      <a:r>
                        <a:rPr lang="en-IN" sz="1100">
                          <a:solidFill>
                            <a:schemeClr val="bg1"/>
                          </a:solidFill>
                          <a:effectLst/>
                        </a:rPr>
                        <a:t>Scraping</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a:solidFill>
                            <a:schemeClr val="bg1"/>
                          </a:solidFill>
                          <a:effectLst/>
                        </a:rPr>
                        <a:t>Playwright + Axios fallback</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a:solidFill>
                            <a:schemeClr val="bg1"/>
                          </a:solidFill>
                          <a:effectLst/>
                        </a:rPr>
                        <a:t>Playwright handles JS-rendered pages; Axios fallback for bot-resistant sites</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706993200"/>
                  </a:ext>
                </a:extLst>
              </a:tr>
              <a:tr h="404651">
                <a:tc>
                  <a:txBody>
                    <a:bodyPr/>
                    <a:lstStyle/>
                    <a:p>
                      <a:pPr>
                        <a:buNone/>
                      </a:pPr>
                      <a:r>
                        <a:rPr lang="en-IN" sz="1100">
                          <a:solidFill>
                            <a:schemeClr val="bg1"/>
                          </a:solidFill>
                          <a:effectLst/>
                        </a:rPr>
                        <a:t>Vector memory</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100">
                          <a:solidFill>
                            <a:schemeClr val="bg1"/>
                          </a:solidFill>
                          <a:effectLst/>
                        </a:rPr>
                        <a:t>ChromaDB</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100">
                          <a:solidFill>
                            <a:schemeClr val="bg1"/>
                          </a:solidFill>
                          <a:effectLst/>
                        </a:rPr>
                        <a:t>Cosine similarity search for RAG; embedded in same process as skills</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075338216"/>
                  </a:ext>
                </a:extLst>
              </a:tr>
              <a:tr h="577019">
                <a:tc>
                  <a:txBody>
                    <a:bodyPr/>
                    <a:lstStyle/>
                    <a:p>
                      <a:pPr>
                        <a:buNone/>
                      </a:pPr>
                      <a:r>
                        <a:rPr lang="en-IN" sz="1100">
                          <a:solidFill>
                            <a:schemeClr val="bg1"/>
                          </a:solidFill>
                          <a:effectLst/>
                        </a:rPr>
                        <a:t>Embedding</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a:solidFill>
                            <a:schemeClr val="bg1"/>
                          </a:solidFill>
                          <a:effectLst/>
                          <a:latin typeface="Monaspace Neon"/>
                        </a:rPr>
                        <a:t>@xenova/transformers</a:t>
                      </a:r>
                      <a:endParaRPr lang="en-IN" sz="1100">
                        <a:solidFill>
                          <a:schemeClr val="bg1"/>
                        </a:solidFill>
                        <a:effectLst/>
                      </a:endParaRP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100">
                          <a:solidFill>
                            <a:schemeClr val="bg1"/>
                          </a:solidFill>
                          <a:effectLst/>
                        </a:rPr>
                        <a:t>Local embedding generation — no external API calls for vector operations</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863784473"/>
                  </a:ext>
                </a:extLst>
              </a:tr>
              <a:tr h="577019">
                <a:tc>
                  <a:txBody>
                    <a:bodyPr/>
                    <a:lstStyle/>
                    <a:p>
                      <a:pPr>
                        <a:buNone/>
                      </a:pPr>
                      <a:r>
                        <a:rPr lang="en-IN" sz="1100">
                          <a:solidFill>
                            <a:schemeClr val="bg1"/>
                          </a:solidFill>
                          <a:effectLst/>
                        </a:rPr>
                        <a:t>Process management</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100">
                          <a:solidFill>
                            <a:schemeClr val="bg1"/>
                          </a:solidFill>
                          <a:effectLst/>
                        </a:rPr>
                        <a:t>PM2 (systemd-backed)</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100">
                          <a:solidFill>
                            <a:schemeClr val="bg1"/>
                          </a:solidFill>
                          <a:effectLst/>
                        </a:rPr>
                        <a:t>Industry-standard Node.js process manager; auto-restart, boot persistence</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237375013"/>
                  </a:ext>
                </a:extLst>
              </a:tr>
              <a:tr h="404651">
                <a:tc>
                  <a:txBody>
                    <a:bodyPr/>
                    <a:lstStyle/>
                    <a:p>
                      <a:pPr>
                        <a:buNone/>
                      </a:pPr>
                      <a:r>
                        <a:rPr lang="en-IN" sz="1100">
                          <a:solidFill>
                            <a:schemeClr val="bg1"/>
                          </a:solidFill>
                          <a:effectLst/>
                        </a:rPr>
                        <a:t>Hosting</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100">
                          <a:solidFill>
                            <a:schemeClr val="bg1"/>
                          </a:solidFill>
                          <a:effectLst/>
                        </a:rPr>
                        <a:t>VPS (Hostinger KVM 1)</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100" dirty="0">
                          <a:solidFill>
                            <a:schemeClr val="bg1"/>
                          </a:solidFill>
                          <a:effectLst/>
                        </a:rPr>
                        <a:t>Full root access, persistent filesystem, ~$3.99/month</a:t>
                      </a:r>
                    </a:p>
                  </a:txBody>
                  <a:tcPr marL="42545" marR="42545" marT="19636" marB="19636"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405300610"/>
                  </a:ext>
                </a:extLst>
              </a:tr>
            </a:tbl>
          </a:graphicData>
        </a:graphic>
      </p:graphicFrame>
    </p:spTree>
    <p:extLst>
      <p:ext uri="{BB962C8B-B14F-4D97-AF65-F5344CB8AC3E}">
        <p14:creationId xmlns:p14="http://schemas.microsoft.com/office/powerpoint/2010/main" val="2695079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D72F7-60D9-8FBB-BB04-F062AC09D0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9A8628-B935-2BA0-3E94-36D52C13C932}"/>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751F528D-5B85-8B81-9EC3-CBEF33E5C9CB}"/>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148321C5-3549-A206-5522-6AAC3A5D5E77}"/>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8C69A38F-344F-A9F8-AEC3-030C696C696C}"/>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F71580A6-4C0D-2AEE-FD3E-5211D689E133}"/>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741BE26B-5BD6-4C3E-62B1-585A3E676AC7}"/>
              </a:ext>
            </a:extLst>
          </p:cNvPr>
          <p:cNvSpPr txBox="1"/>
          <p:nvPr/>
        </p:nvSpPr>
        <p:spPr>
          <a:xfrm>
            <a:off x="609600" y="1449149"/>
            <a:ext cx="6103960" cy="1231106"/>
          </a:xfrm>
          <a:prstGeom prst="rect">
            <a:avLst/>
          </a:prstGeom>
          <a:noFill/>
        </p:spPr>
        <p:txBody>
          <a:bodyPr wrap="square">
            <a:spAutoFit/>
          </a:bodyPr>
          <a:lstStyle/>
          <a:p>
            <a:pPr>
              <a:spcAft>
                <a:spcPts val="1200"/>
              </a:spcAft>
            </a:pPr>
            <a:r>
              <a:rPr lang="en-IN" b="1" u="sng" dirty="0"/>
              <a:t>Three-Layer Memory Architecture-</a:t>
            </a:r>
          </a:p>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pic>
        <p:nvPicPr>
          <p:cNvPr id="7" name="Picture 6">
            <a:extLst>
              <a:ext uri="{FF2B5EF4-FFF2-40B4-BE49-F238E27FC236}">
                <a16:creationId xmlns:a16="http://schemas.microsoft.com/office/drawing/2014/main" id="{F6C656B2-9D16-259A-FEBB-593B78E27B58}"/>
              </a:ext>
            </a:extLst>
          </p:cNvPr>
          <p:cNvPicPr>
            <a:picLocks noChangeAspect="1"/>
          </p:cNvPicPr>
          <p:nvPr/>
        </p:nvPicPr>
        <p:blipFill>
          <a:blip r:embed="rId3"/>
          <a:stretch>
            <a:fillRect/>
          </a:stretch>
        </p:blipFill>
        <p:spPr>
          <a:xfrm>
            <a:off x="743803" y="1842448"/>
            <a:ext cx="5725235" cy="4895831"/>
          </a:xfrm>
          <a:prstGeom prst="rect">
            <a:avLst/>
          </a:prstGeom>
        </p:spPr>
      </p:pic>
    </p:spTree>
    <p:extLst>
      <p:ext uri="{BB962C8B-B14F-4D97-AF65-F5344CB8AC3E}">
        <p14:creationId xmlns:p14="http://schemas.microsoft.com/office/powerpoint/2010/main" val="1975665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CC377-E038-201B-E291-0C259A7F762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4B1E4B6-3B12-A054-4D94-0067980BCB43}"/>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6FE12F60-3401-4492-73C8-B6B0EA1A6140}"/>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228A3882-0D9A-1A5A-7420-1CE60CEB052B}"/>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24E78C26-4E70-993A-DEC6-8B13F0357342}"/>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E8CD6839-667C-87D0-C49F-012CA9662E22}"/>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75A2C0FE-0EEF-887C-CBBA-5B1E03BC558F}"/>
              </a:ext>
            </a:extLst>
          </p:cNvPr>
          <p:cNvSpPr txBox="1"/>
          <p:nvPr/>
        </p:nvSpPr>
        <p:spPr>
          <a:xfrm>
            <a:off x="493594" y="1533402"/>
            <a:ext cx="6103960" cy="1231106"/>
          </a:xfrm>
          <a:prstGeom prst="rect">
            <a:avLst/>
          </a:prstGeom>
          <a:noFill/>
        </p:spPr>
        <p:txBody>
          <a:bodyPr wrap="square">
            <a:spAutoFit/>
          </a:bodyPr>
          <a:lstStyle/>
          <a:p>
            <a:pPr>
              <a:spcAft>
                <a:spcPts val="1200"/>
              </a:spcAft>
            </a:pPr>
            <a:r>
              <a:rPr lang="en-IN" b="1" u="sng" dirty="0"/>
              <a:t>Three-Layer Memory Architecture-</a:t>
            </a:r>
          </a:p>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graphicFrame>
        <p:nvGraphicFramePr>
          <p:cNvPr id="6" name="Table 5">
            <a:extLst>
              <a:ext uri="{FF2B5EF4-FFF2-40B4-BE49-F238E27FC236}">
                <a16:creationId xmlns:a16="http://schemas.microsoft.com/office/drawing/2014/main" id="{70634BFD-5070-6401-AE5D-1ABCF3ED4BCF}"/>
              </a:ext>
            </a:extLst>
          </p:cNvPr>
          <p:cNvGraphicFramePr>
            <a:graphicFrameLocks noGrp="1"/>
          </p:cNvGraphicFramePr>
          <p:nvPr>
            <p:extLst>
              <p:ext uri="{D42A27DB-BD31-4B8C-83A1-F6EECF244321}">
                <p14:modId xmlns:p14="http://schemas.microsoft.com/office/powerpoint/2010/main" val="1416551411"/>
              </p:ext>
            </p:extLst>
          </p:nvPr>
        </p:nvGraphicFramePr>
        <p:xfrm>
          <a:off x="838200" y="2318916"/>
          <a:ext cx="10515600" cy="4101736"/>
        </p:xfrm>
        <a:graphic>
          <a:graphicData uri="http://schemas.openxmlformats.org/drawingml/2006/table">
            <a:tbl>
              <a:tblPr/>
              <a:tblGrid>
                <a:gridCol w="2103120">
                  <a:extLst>
                    <a:ext uri="{9D8B030D-6E8A-4147-A177-3AD203B41FA5}">
                      <a16:colId xmlns:a16="http://schemas.microsoft.com/office/drawing/2014/main" val="2671450594"/>
                    </a:ext>
                  </a:extLst>
                </a:gridCol>
                <a:gridCol w="2103120">
                  <a:extLst>
                    <a:ext uri="{9D8B030D-6E8A-4147-A177-3AD203B41FA5}">
                      <a16:colId xmlns:a16="http://schemas.microsoft.com/office/drawing/2014/main" val="1984115712"/>
                    </a:ext>
                  </a:extLst>
                </a:gridCol>
                <a:gridCol w="2103120">
                  <a:extLst>
                    <a:ext uri="{9D8B030D-6E8A-4147-A177-3AD203B41FA5}">
                      <a16:colId xmlns:a16="http://schemas.microsoft.com/office/drawing/2014/main" val="1529720352"/>
                    </a:ext>
                  </a:extLst>
                </a:gridCol>
                <a:gridCol w="2103120">
                  <a:extLst>
                    <a:ext uri="{9D8B030D-6E8A-4147-A177-3AD203B41FA5}">
                      <a16:colId xmlns:a16="http://schemas.microsoft.com/office/drawing/2014/main" val="4105566305"/>
                    </a:ext>
                  </a:extLst>
                </a:gridCol>
                <a:gridCol w="2103120">
                  <a:extLst>
                    <a:ext uri="{9D8B030D-6E8A-4147-A177-3AD203B41FA5}">
                      <a16:colId xmlns:a16="http://schemas.microsoft.com/office/drawing/2014/main" val="4019254676"/>
                    </a:ext>
                  </a:extLst>
                </a:gridCol>
              </a:tblGrid>
              <a:tr h="0">
                <a:tc>
                  <a:txBody>
                    <a:bodyPr/>
                    <a:lstStyle/>
                    <a:p>
                      <a:pPr>
                        <a:buNone/>
                      </a:pPr>
                      <a:r>
                        <a:rPr lang="en-IN" b="1">
                          <a:effectLst/>
                        </a:rPr>
                        <a:t>Memory Layer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effectLst/>
                        </a:rPr>
                        <a:t>File/System</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effectLst/>
                        </a:rPr>
                        <a:t>Scope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effectLst/>
                        </a:rPr>
                        <a:t>Mutability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effectLst/>
                        </a:rPr>
                        <a:t>Purpose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971286021"/>
                  </a:ext>
                </a:extLst>
              </a:tr>
              <a:tr h="0">
                <a:tc>
                  <a:txBody>
                    <a:bodyPr/>
                    <a:lstStyle/>
                    <a:p>
                      <a:pPr>
                        <a:buNone/>
                      </a:pPr>
                      <a:r>
                        <a:rPr lang="en-IN" b="1">
                          <a:solidFill>
                            <a:schemeClr val="bg1"/>
                          </a:solidFill>
                          <a:effectLst/>
                        </a:rPr>
                        <a:t>Layer 1 — Behavioral</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1"/>
                          </a:solidFill>
                          <a:effectLst/>
                          <a:latin typeface="Monaspace Neon"/>
                        </a:rPr>
                        <a:t>SOUL.md</a:t>
                      </a:r>
                      <a:endParaRPr lang="en-IN" dirty="0">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1"/>
                          </a:solidFill>
                          <a:effectLst/>
                        </a:rPr>
                        <a:t>Global</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Read-only at runtime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Dark pattern taxonomy, severity rubric, response format rules, ethical constraints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85230821"/>
                  </a:ext>
                </a:extLst>
              </a:tr>
              <a:tr h="0">
                <a:tc>
                  <a:txBody>
                    <a:bodyPr/>
                    <a:lstStyle/>
                    <a:p>
                      <a:pPr>
                        <a:buNone/>
                      </a:pPr>
                      <a:r>
                        <a:rPr lang="en-IN" b="1">
                          <a:solidFill>
                            <a:schemeClr val="bg1"/>
                          </a:solidFill>
                          <a:effectLst/>
                        </a:rPr>
                        <a:t>Layer 2 — Episodic</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latin typeface="Monaspace Neon"/>
                        </a:rPr>
                        <a:t>memory/{hash}.md</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Per-user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Append-only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1"/>
                          </a:solidFill>
                          <a:effectLst/>
                        </a:rPr>
                        <a:t>Scan history, watchlist URLs, interaction preferences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21775048"/>
                  </a:ext>
                </a:extLst>
              </a:tr>
              <a:tr h="0">
                <a:tc>
                  <a:txBody>
                    <a:bodyPr/>
                    <a:lstStyle/>
                    <a:p>
                      <a:pPr>
                        <a:buNone/>
                      </a:pPr>
                      <a:r>
                        <a:rPr lang="en-IN" b="1">
                          <a:solidFill>
                            <a:schemeClr val="bg1"/>
                          </a:solidFill>
                          <a:effectLst/>
                        </a:rPr>
                        <a:t>Layer 3 — Semantic</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ChromaDB</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Cross-user (anonymized)</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Write on every scan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1"/>
                          </a:solidFill>
                          <a:effectLst/>
                        </a:rPr>
                        <a:t>Pattern embeddings for RAG retrieval, community intelligence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84626034"/>
                  </a:ext>
                </a:extLst>
              </a:tr>
            </a:tbl>
          </a:graphicData>
        </a:graphic>
      </p:graphicFrame>
    </p:spTree>
    <p:extLst>
      <p:ext uri="{BB962C8B-B14F-4D97-AF65-F5344CB8AC3E}">
        <p14:creationId xmlns:p14="http://schemas.microsoft.com/office/powerpoint/2010/main" val="1163602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F94D-FDD6-DD67-64D0-C80B1D4A28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2162A9-99D2-BB36-5CF6-F0618CE3EE21}"/>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6B1A09D7-9AFB-D265-D920-817AA09CAFAE}"/>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95527518-5CDA-217A-852F-F0F623E53998}"/>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B3C33FCE-B7E3-ED75-DCC1-B25952C11131}"/>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0452C9E7-7DB8-3EA6-A2A1-ABFEF494F5C7}"/>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1E566B58-E562-E250-BADD-9360F4BB2F42}"/>
              </a:ext>
            </a:extLst>
          </p:cNvPr>
          <p:cNvSpPr txBox="1"/>
          <p:nvPr/>
        </p:nvSpPr>
        <p:spPr>
          <a:xfrm>
            <a:off x="493594" y="1533402"/>
            <a:ext cx="6103960" cy="1077218"/>
          </a:xfrm>
          <a:prstGeom prst="rect">
            <a:avLst/>
          </a:prstGeom>
          <a:noFill/>
        </p:spPr>
        <p:txBody>
          <a:bodyPr wrap="square">
            <a:spAutoFit/>
          </a:bodyPr>
          <a:lstStyle/>
          <a:p>
            <a:r>
              <a:rPr lang="en-IN" b="1" dirty="0"/>
              <a:t> </a:t>
            </a:r>
            <a:r>
              <a:rPr lang="en-IN" b="1" u="sng" dirty="0"/>
              <a:t>Skill Pipeline Detail-</a:t>
            </a:r>
          </a:p>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pic>
        <p:nvPicPr>
          <p:cNvPr id="8" name="Picture 7">
            <a:extLst>
              <a:ext uri="{FF2B5EF4-FFF2-40B4-BE49-F238E27FC236}">
                <a16:creationId xmlns:a16="http://schemas.microsoft.com/office/drawing/2014/main" id="{40E9B981-EB80-9B99-42C5-28A15CE55DB7}"/>
              </a:ext>
            </a:extLst>
          </p:cNvPr>
          <p:cNvPicPr>
            <a:picLocks noChangeAspect="1"/>
          </p:cNvPicPr>
          <p:nvPr/>
        </p:nvPicPr>
        <p:blipFill>
          <a:blip r:embed="rId3"/>
          <a:stretch>
            <a:fillRect/>
          </a:stretch>
        </p:blipFill>
        <p:spPr>
          <a:xfrm>
            <a:off x="3231934" y="1644707"/>
            <a:ext cx="5925714" cy="5110935"/>
          </a:xfrm>
          <a:prstGeom prst="rect">
            <a:avLst/>
          </a:prstGeom>
        </p:spPr>
      </p:pic>
    </p:spTree>
    <p:extLst>
      <p:ext uri="{BB962C8B-B14F-4D97-AF65-F5344CB8AC3E}">
        <p14:creationId xmlns:p14="http://schemas.microsoft.com/office/powerpoint/2010/main" val="2904432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BDAE7-D6C2-A699-CC09-8AF53652BF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730C05-E4A6-CF38-7B96-0433E142CC5B}"/>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0702AA20-F1CE-5290-5009-220D2C45CF89}"/>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6DD43CCF-0571-FC1D-C77B-F76D6FA523ED}"/>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D2DA20D6-FFDD-FAE1-C7FE-81203ED9DD92}"/>
              </a:ext>
            </a:extLst>
          </p:cNvPr>
          <p:cNvSpPr/>
          <p:nvPr/>
        </p:nvSpPr>
        <p:spPr>
          <a:xfrm>
            <a:off x="493594" y="770977"/>
            <a:ext cx="10972800" cy="853440"/>
          </a:xfrm>
          <a:prstGeom prst="rect">
            <a:avLst/>
          </a:prstGeom>
          <a:noFill/>
          <a:ln/>
        </p:spPr>
        <p:txBody>
          <a:bodyPr wrap="square" lIns="0" tIns="0" rIns="0" bIns="0" rtlCol="0" anchor="ctr"/>
          <a:lstStyle/>
          <a:p>
            <a:r>
              <a:rPr lang="en-IN" b="1" dirty="0"/>
              <a:t> </a:t>
            </a:r>
            <a:r>
              <a:rPr lang="en-IN" sz="4270" b="1" dirty="0"/>
              <a:t>RAG Community Intelligence Flywheel</a:t>
            </a:r>
          </a:p>
          <a:p>
            <a:endParaRPr lang="en-US" sz="4267" dirty="0"/>
          </a:p>
        </p:txBody>
      </p:sp>
      <p:sp>
        <p:nvSpPr>
          <p:cNvPr id="18" name="Text 1">
            <a:extLst>
              <a:ext uri="{FF2B5EF4-FFF2-40B4-BE49-F238E27FC236}">
                <a16:creationId xmlns:a16="http://schemas.microsoft.com/office/drawing/2014/main" id="{A984A93B-B2FE-F8CD-8DAF-C3D5C23DD3D2}"/>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43482678-7DC5-3ABA-A5B4-40EBC53E03E7}"/>
              </a:ext>
            </a:extLst>
          </p:cNvPr>
          <p:cNvSpPr txBox="1"/>
          <p:nvPr/>
        </p:nvSpPr>
        <p:spPr>
          <a:xfrm>
            <a:off x="493594" y="1533402"/>
            <a:ext cx="6103960" cy="646331"/>
          </a:xfrm>
          <a:prstGeom prst="rect">
            <a:avLst/>
          </a:prstGeom>
          <a:noFill/>
        </p:spPr>
        <p:txBody>
          <a:bodyPr wrap="square">
            <a:spAutoFit/>
          </a:bodyPr>
          <a:lstStyle/>
          <a:p>
            <a:r>
              <a:rPr lang="en-IN" b="1" dirty="0"/>
              <a:t> </a:t>
            </a:r>
            <a:endParaRPr lang="en-US" b="0" i="0" dirty="0">
              <a:effectLst/>
              <a:latin typeface="Mona Sans VF"/>
            </a:endParaRPr>
          </a:p>
          <a:p>
            <a:pPr algn="l">
              <a:spcAft>
                <a:spcPts val="1200"/>
              </a:spcAft>
              <a:buNone/>
            </a:pPr>
            <a:endParaRPr lang="en-US" b="0" i="0" dirty="0">
              <a:effectLst/>
              <a:latin typeface="Mona Sans VF"/>
            </a:endParaRPr>
          </a:p>
        </p:txBody>
      </p:sp>
      <p:pic>
        <p:nvPicPr>
          <p:cNvPr id="7" name="Picture 6">
            <a:extLst>
              <a:ext uri="{FF2B5EF4-FFF2-40B4-BE49-F238E27FC236}">
                <a16:creationId xmlns:a16="http://schemas.microsoft.com/office/drawing/2014/main" id="{41D7BE85-946E-9523-0EC3-AFE1340D379C}"/>
              </a:ext>
            </a:extLst>
          </p:cNvPr>
          <p:cNvPicPr>
            <a:picLocks noChangeAspect="1"/>
          </p:cNvPicPr>
          <p:nvPr/>
        </p:nvPicPr>
        <p:blipFill>
          <a:blip r:embed="rId3"/>
          <a:stretch>
            <a:fillRect/>
          </a:stretch>
        </p:blipFill>
        <p:spPr>
          <a:xfrm>
            <a:off x="524089" y="1171088"/>
            <a:ext cx="6042969" cy="4037399"/>
          </a:xfrm>
          <a:prstGeom prst="rect">
            <a:avLst/>
          </a:prstGeom>
        </p:spPr>
      </p:pic>
      <p:pic>
        <p:nvPicPr>
          <p:cNvPr id="10" name="Picture 9">
            <a:extLst>
              <a:ext uri="{FF2B5EF4-FFF2-40B4-BE49-F238E27FC236}">
                <a16:creationId xmlns:a16="http://schemas.microsoft.com/office/drawing/2014/main" id="{47E71EDF-3D09-4085-B09D-4934A5D6B661}"/>
              </a:ext>
            </a:extLst>
          </p:cNvPr>
          <p:cNvPicPr>
            <a:picLocks noChangeAspect="1"/>
          </p:cNvPicPr>
          <p:nvPr/>
        </p:nvPicPr>
        <p:blipFill>
          <a:blip r:embed="rId4"/>
          <a:stretch>
            <a:fillRect/>
          </a:stretch>
        </p:blipFill>
        <p:spPr>
          <a:xfrm>
            <a:off x="524089" y="5119082"/>
            <a:ext cx="9465376" cy="1703659"/>
          </a:xfrm>
          <a:prstGeom prst="rect">
            <a:avLst/>
          </a:prstGeom>
        </p:spPr>
      </p:pic>
    </p:spTree>
    <p:extLst>
      <p:ext uri="{BB962C8B-B14F-4D97-AF65-F5344CB8AC3E}">
        <p14:creationId xmlns:p14="http://schemas.microsoft.com/office/powerpoint/2010/main" val="3526713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189BE-540E-3049-4769-EBD05236A4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0FF868-450D-220C-5605-9F4BB6FF8FB8}"/>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F720A533-8988-1F55-9B06-AC07A4FCB084}"/>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AEE882AF-6C2B-3ED8-CE1B-A0951C5C9211}"/>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A68E7483-EE7E-1738-1D0A-E3315D96D8C4}"/>
              </a:ext>
            </a:extLst>
          </p:cNvPr>
          <p:cNvSpPr/>
          <p:nvPr/>
        </p:nvSpPr>
        <p:spPr>
          <a:xfrm>
            <a:off x="493594" y="770977"/>
            <a:ext cx="10972800" cy="853440"/>
          </a:xfrm>
          <a:prstGeom prst="rect">
            <a:avLst/>
          </a:prstGeom>
          <a:noFill/>
          <a:ln/>
        </p:spPr>
        <p:txBody>
          <a:bodyPr wrap="square" lIns="0" tIns="0" rIns="0" bIns="0" rtlCol="0" anchor="ctr"/>
          <a:lstStyle/>
          <a:p>
            <a:r>
              <a:rPr lang="en-IN" b="1" dirty="0"/>
              <a:t> </a:t>
            </a:r>
            <a:endParaRPr lang="en-US" sz="4267" dirty="0"/>
          </a:p>
        </p:txBody>
      </p:sp>
      <p:sp>
        <p:nvSpPr>
          <p:cNvPr id="18" name="Text 1">
            <a:extLst>
              <a:ext uri="{FF2B5EF4-FFF2-40B4-BE49-F238E27FC236}">
                <a16:creationId xmlns:a16="http://schemas.microsoft.com/office/drawing/2014/main" id="{D07B731D-3994-1292-2B61-364867EF20EF}"/>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ED5E44B2-168A-0901-EE81-E24F5CB50B85}"/>
              </a:ext>
            </a:extLst>
          </p:cNvPr>
          <p:cNvSpPr txBox="1"/>
          <p:nvPr/>
        </p:nvSpPr>
        <p:spPr>
          <a:xfrm>
            <a:off x="493594" y="1533402"/>
            <a:ext cx="6103960" cy="646331"/>
          </a:xfrm>
          <a:prstGeom prst="rect">
            <a:avLst/>
          </a:prstGeom>
          <a:noFill/>
        </p:spPr>
        <p:txBody>
          <a:bodyPr wrap="square">
            <a:spAutoFit/>
          </a:bodyPr>
          <a:lstStyle/>
          <a:p>
            <a:r>
              <a:rPr lang="en-IN" b="1" dirty="0"/>
              <a:t> </a:t>
            </a:r>
            <a:endParaRPr lang="en-US" b="0" i="0" dirty="0">
              <a:effectLst/>
              <a:latin typeface="Mona Sans VF"/>
            </a:endParaRPr>
          </a:p>
          <a:p>
            <a:pPr algn="l">
              <a:spcAft>
                <a:spcPts val="1200"/>
              </a:spcAft>
              <a:buNone/>
            </a:pPr>
            <a:endParaRPr lang="en-US" b="0" i="0" dirty="0">
              <a:effectLst/>
              <a:latin typeface="Mona Sans VF"/>
            </a:endParaRPr>
          </a:p>
        </p:txBody>
      </p:sp>
      <p:graphicFrame>
        <p:nvGraphicFramePr>
          <p:cNvPr id="6" name="Table 5">
            <a:extLst>
              <a:ext uri="{FF2B5EF4-FFF2-40B4-BE49-F238E27FC236}">
                <a16:creationId xmlns:a16="http://schemas.microsoft.com/office/drawing/2014/main" id="{7C75432B-86C7-AED4-8271-584A8605830C}"/>
              </a:ext>
            </a:extLst>
          </p:cNvPr>
          <p:cNvGraphicFramePr>
            <a:graphicFrameLocks noGrp="1"/>
          </p:cNvGraphicFramePr>
          <p:nvPr>
            <p:extLst>
              <p:ext uri="{D42A27DB-BD31-4B8C-83A1-F6EECF244321}">
                <p14:modId xmlns:p14="http://schemas.microsoft.com/office/powerpoint/2010/main" val="1120853914"/>
              </p:ext>
            </p:extLst>
          </p:nvPr>
        </p:nvGraphicFramePr>
        <p:xfrm>
          <a:off x="609600" y="1834562"/>
          <a:ext cx="10487512" cy="4361600"/>
        </p:xfrm>
        <a:graphic>
          <a:graphicData uri="http://schemas.openxmlformats.org/drawingml/2006/table">
            <a:tbl>
              <a:tblPr/>
              <a:tblGrid>
                <a:gridCol w="2621878">
                  <a:extLst>
                    <a:ext uri="{9D8B030D-6E8A-4147-A177-3AD203B41FA5}">
                      <a16:colId xmlns:a16="http://schemas.microsoft.com/office/drawing/2014/main" val="3321707748"/>
                    </a:ext>
                  </a:extLst>
                </a:gridCol>
                <a:gridCol w="2621878">
                  <a:extLst>
                    <a:ext uri="{9D8B030D-6E8A-4147-A177-3AD203B41FA5}">
                      <a16:colId xmlns:a16="http://schemas.microsoft.com/office/drawing/2014/main" val="512062054"/>
                    </a:ext>
                  </a:extLst>
                </a:gridCol>
                <a:gridCol w="2621878">
                  <a:extLst>
                    <a:ext uri="{9D8B030D-6E8A-4147-A177-3AD203B41FA5}">
                      <a16:colId xmlns:a16="http://schemas.microsoft.com/office/drawing/2014/main" val="332170450"/>
                    </a:ext>
                  </a:extLst>
                </a:gridCol>
                <a:gridCol w="2621878">
                  <a:extLst>
                    <a:ext uri="{9D8B030D-6E8A-4147-A177-3AD203B41FA5}">
                      <a16:colId xmlns:a16="http://schemas.microsoft.com/office/drawing/2014/main" val="1008508856"/>
                    </a:ext>
                  </a:extLst>
                </a:gridCol>
              </a:tblGrid>
              <a:tr h="338727">
                <a:tc>
                  <a:txBody>
                    <a:bodyPr/>
                    <a:lstStyle/>
                    <a:p>
                      <a:pPr>
                        <a:buNone/>
                      </a:pPr>
                      <a:r>
                        <a:rPr lang="en-IN" sz="1800" b="1">
                          <a:effectLst/>
                        </a:rPr>
                        <a:t>Stage</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b="1">
                          <a:effectLst/>
                        </a:rPr>
                        <a:t>Model</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b="1">
                          <a:effectLst/>
                        </a:rPr>
                        <a:t>Max Tokens</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b="1">
                          <a:effectLst/>
                        </a:rPr>
                        <a:t>Why this model</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345228412"/>
                  </a:ext>
                </a:extLst>
              </a:tr>
              <a:tr h="612314">
                <a:tc>
                  <a:txBody>
                    <a:bodyPr/>
                    <a:lstStyle/>
                    <a:p>
                      <a:pPr>
                        <a:buNone/>
                      </a:pPr>
                      <a:r>
                        <a:rPr lang="en-IN" sz="1800">
                          <a:solidFill>
                            <a:schemeClr val="bg1"/>
                          </a:solidFill>
                          <a:effectLst/>
                        </a:rPr>
                        <a:t>Intent classification</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latin typeface="Monaspace Neon"/>
                        </a:rPr>
                        <a:t>llama3-8b-8192</a:t>
                      </a:r>
                      <a:endParaRPr lang="en-IN" sz="180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rPr>
                        <a:t>128</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800">
                          <a:solidFill>
                            <a:schemeClr val="bg1"/>
                          </a:solidFill>
                          <a:effectLst/>
                        </a:rPr>
                        <a:t>Simple 3-class task; speed over depth</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74099609"/>
                  </a:ext>
                </a:extLst>
              </a:tr>
              <a:tr h="612314">
                <a:tc>
                  <a:txBody>
                    <a:bodyPr/>
                    <a:lstStyle/>
                    <a:p>
                      <a:pPr>
                        <a:buNone/>
                      </a:pPr>
                      <a:r>
                        <a:rPr lang="en-IN" sz="1800">
                          <a:solidFill>
                            <a:schemeClr val="bg1"/>
                          </a:solidFill>
                          <a:effectLst/>
                        </a:rPr>
                        <a:t>ToS chunk pre-filter</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dirty="0">
                          <a:solidFill>
                            <a:schemeClr val="bg1"/>
                          </a:solidFill>
                          <a:effectLst/>
                          <a:latin typeface="Monaspace Neon"/>
                        </a:rPr>
                        <a:t>llama3-8b-8192</a:t>
                      </a:r>
                      <a:endParaRPr lang="en-IN" sz="1800" dirty="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a:solidFill>
                            <a:schemeClr val="bg1"/>
                          </a:solidFill>
                          <a:effectLst/>
                        </a:rPr>
                        <a:t>512</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800">
                          <a:solidFill>
                            <a:schemeClr val="bg1"/>
                          </a:solidFill>
                          <a:effectLst/>
                        </a:rPr>
                        <a:t>Binary relevance check; reduces 70b calls by ~65%</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710873892"/>
                  </a:ext>
                </a:extLst>
              </a:tr>
              <a:tr h="612314">
                <a:tc>
                  <a:txBody>
                    <a:bodyPr/>
                    <a:lstStyle/>
                    <a:p>
                      <a:pPr>
                        <a:buNone/>
                      </a:pPr>
                      <a:r>
                        <a:rPr lang="en-IN" sz="1800">
                          <a:solidFill>
                            <a:schemeClr val="bg1"/>
                          </a:solidFill>
                          <a:effectLst/>
                        </a:rPr>
                        <a:t>ToS deep analysis</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dirty="0">
                          <a:solidFill>
                            <a:schemeClr val="bg1"/>
                          </a:solidFill>
                          <a:effectLst/>
                          <a:latin typeface="Monaspace Neon"/>
                        </a:rPr>
                        <a:t>llama3-7b-8192</a:t>
                      </a:r>
                      <a:endParaRPr lang="en-IN" sz="1800" dirty="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rPr>
                        <a:t>1024</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800">
                          <a:solidFill>
                            <a:schemeClr val="bg1"/>
                          </a:solidFill>
                          <a:effectLst/>
                        </a:rPr>
                        <a:t>Complex legal reasoning requires strong capability</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87480379"/>
                  </a:ext>
                </a:extLst>
              </a:tr>
              <a:tr h="612314">
                <a:tc>
                  <a:txBody>
                    <a:bodyPr/>
                    <a:lstStyle/>
                    <a:p>
                      <a:pPr>
                        <a:buNone/>
                      </a:pPr>
                      <a:r>
                        <a:rPr lang="en-IN" sz="1800">
                          <a:solidFill>
                            <a:schemeClr val="bg1"/>
                          </a:solidFill>
                          <a:effectLst/>
                        </a:rPr>
                        <a:t>Pattern detection + RAG</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dirty="0">
                          <a:solidFill>
                            <a:schemeClr val="bg1"/>
                          </a:solidFill>
                          <a:effectLst/>
                          <a:latin typeface="Monaspace Neon"/>
                        </a:rPr>
                        <a:t>llama3-7b-8192</a:t>
                      </a:r>
                      <a:endParaRPr lang="en-IN" sz="1800" dirty="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a:solidFill>
                            <a:schemeClr val="bg1"/>
                          </a:solidFill>
                          <a:effectLst/>
                        </a:rPr>
                        <a:t>1500</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800">
                          <a:solidFill>
                            <a:schemeClr val="bg1"/>
                          </a:solidFill>
                          <a:effectLst/>
                        </a:rPr>
                        <a:t>Critical path; highest accuracy requirement</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171184890"/>
                  </a:ext>
                </a:extLst>
              </a:tr>
              <a:tr h="612314">
                <a:tc>
                  <a:txBody>
                    <a:bodyPr/>
                    <a:lstStyle/>
                    <a:p>
                      <a:pPr>
                        <a:buNone/>
                      </a:pPr>
                      <a:r>
                        <a:rPr lang="en-IN" sz="1800">
                          <a:solidFill>
                            <a:schemeClr val="bg1"/>
                          </a:solidFill>
                          <a:effectLst/>
                        </a:rPr>
                        <a:t>Response generation</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latin typeface="Monaspace Neon"/>
                        </a:rPr>
                        <a:t>llama3-8b-8192</a:t>
                      </a:r>
                      <a:endParaRPr lang="en-IN" sz="180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rPr>
                        <a:t>512</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800">
                          <a:solidFill>
                            <a:schemeClr val="bg1"/>
                          </a:solidFill>
                          <a:effectLst/>
                        </a:rPr>
                        <a:t>Format task with structured templates</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375034104"/>
                  </a:ext>
                </a:extLst>
              </a:tr>
              <a:tr h="338727">
                <a:tc>
                  <a:txBody>
                    <a:bodyPr/>
                    <a:lstStyle/>
                    <a:p>
                      <a:pPr>
                        <a:buNone/>
                      </a:pPr>
                      <a:r>
                        <a:rPr lang="en-IN" sz="1800">
                          <a:solidFill>
                            <a:schemeClr val="bg1"/>
                          </a:solidFill>
                          <a:effectLst/>
                        </a:rPr>
                        <a:t>ArXiv summarisation</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a:solidFill>
                            <a:schemeClr val="bg1"/>
                          </a:solidFill>
                          <a:effectLst/>
                          <a:latin typeface="Monaspace Neon"/>
                        </a:rPr>
                        <a:t>llama3-8b-8192</a:t>
                      </a:r>
                      <a:endParaRPr lang="en-IN" sz="180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a:solidFill>
                            <a:schemeClr val="bg1"/>
                          </a:solidFill>
                          <a:effectLst/>
                        </a:rPr>
                        <a:t>400</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800">
                          <a:solidFill>
                            <a:schemeClr val="bg1"/>
                          </a:solidFill>
                          <a:effectLst/>
                        </a:rPr>
                        <a:t>First-pass compression</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242233715"/>
                  </a:ext>
                </a:extLst>
              </a:tr>
              <a:tr h="612314">
                <a:tc>
                  <a:txBody>
                    <a:bodyPr/>
                    <a:lstStyle/>
                    <a:p>
                      <a:pPr>
                        <a:buNone/>
                      </a:pPr>
                      <a:r>
                        <a:rPr lang="en-IN" sz="1800">
                          <a:solidFill>
                            <a:schemeClr val="bg1"/>
                          </a:solidFill>
                          <a:effectLst/>
                        </a:rPr>
                        <a:t>Research cross-mapping</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dirty="0">
                          <a:solidFill>
                            <a:schemeClr val="bg1"/>
                          </a:solidFill>
                          <a:effectLst/>
                          <a:latin typeface="Monaspace Neon"/>
                        </a:rPr>
                        <a:t>llama3-7b-8192</a:t>
                      </a:r>
                      <a:endParaRPr lang="en-IN" sz="1800" dirty="0">
                        <a:solidFill>
                          <a:schemeClr val="bg1"/>
                        </a:solidFill>
                        <a:effectLst/>
                      </a:endParaRP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800">
                          <a:solidFill>
                            <a:schemeClr val="bg1"/>
                          </a:solidFill>
                          <a:effectLst/>
                        </a:rPr>
                        <a:t>256</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800" dirty="0">
                          <a:solidFill>
                            <a:schemeClr val="bg1"/>
                          </a:solidFill>
                          <a:effectLst/>
                        </a:rPr>
                        <a:t>Nuanced reasoning; maps patterns to papers</a:t>
                      </a:r>
                    </a:p>
                  </a:txBody>
                  <a:tcPr marL="70568" marR="70568" marT="32570" marB="32570"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959238189"/>
                  </a:ext>
                </a:extLst>
              </a:tr>
            </a:tbl>
          </a:graphicData>
        </a:graphic>
      </p:graphicFrame>
      <p:sp>
        <p:nvSpPr>
          <p:cNvPr id="9" name="TextBox 8">
            <a:extLst>
              <a:ext uri="{FF2B5EF4-FFF2-40B4-BE49-F238E27FC236}">
                <a16:creationId xmlns:a16="http://schemas.microsoft.com/office/drawing/2014/main" id="{AFEBCF4D-9EE4-602A-C5F8-04963DE41B34}"/>
              </a:ext>
            </a:extLst>
          </p:cNvPr>
          <p:cNvSpPr txBox="1"/>
          <p:nvPr/>
        </p:nvSpPr>
        <p:spPr>
          <a:xfrm>
            <a:off x="609600" y="935594"/>
            <a:ext cx="6103960" cy="646331"/>
          </a:xfrm>
          <a:prstGeom prst="rect">
            <a:avLst/>
          </a:prstGeom>
          <a:noFill/>
        </p:spPr>
        <p:txBody>
          <a:bodyPr wrap="square">
            <a:spAutoFit/>
          </a:bodyPr>
          <a:lstStyle/>
          <a:p>
            <a:pPr algn="l">
              <a:spcBef>
                <a:spcPts val="1800"/>
              </a:spcBef>
              <a:spcAft>
                <a:spcPts val="1200"/>
              </a:spcAft>
              <a:buNone/>
            </a:pPr>
            <a:r>
              <a:rPr lang="en-IN" sz="3600" b="1" i="0" u="sng" dirty="0">
                <a:effectLst/>
                <a:latin typeface="Mona Sans VF"/>
              </a:rPr>
              <a:t>Model routing strategy</a:t>
            </a:r>
          </a:p>
        </p:txBody>
      </p:sp>
    </p:spTree>
    <p:extLst>
      <p:ext uri="{BB962C8B-B14F-4D97-AF65-F5344CB8AC3E}">
        <p14:creationId xmlns:p14="http://schemas.microsoft.com/office/powerpoint/2010/main" val="4226024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5A61-AA2B-1025-A140-00B39949CB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BBD72E-B14B-39F4-D532-4A9D7E80F75C}"/>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405A9D9A-B260-0281-EB6B-2F70026E764C}"/>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5365731B-D568-138B-AE4E-A5032AFD057D}"/>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8E57A027-D4A0-F7BB-FADE-F291F5868E66}"/>
              </a:ext>
            </a:extLst>
          </p:cNvPr>
          <p:cNvSpPr/>
          <p:nvPr/>
        </p:nvSpPr>
        <p:spPr>
          <a:xfrm>
            <a:off x="493594" y="770977"/>
            <a:ext cx="10972800" cy="853440"/>
          </a:xfrm>
          <a:prstGeom prst="rect">
            <a:avLst/>
          </a:prstGeom>
          <a:noFill/>
          <a:ln/>
        </p:spPr>
        <p:txBody>
          <a:bodyPr wrap="square" lIns="0" tIns="0" rIns="0" bIns="0" rtlCol="0" anchor="ctr"/>
          <a:lstStyle/>
          <a:p>
            <a:r>
              <a:rPr lang="en-IN" b="1" dirty="0"/>
              <a:t> </a:t>
            </a:r>
            <a:endParaRPr lang="en-US" sz="4267" dirty="0"/>
          </a:p>
        </p:txBody>
      </p:sp>
      <p:sp>
        <p:nvSpPr>
          <p:cNvPr id="18" name="Text 1">
            <a:extLst>
              <a:ext uri="{FF2B5EF4-FFF2-40B4-BE49-F238E27FC236}">
                <a16:creationId xmlns:a16="http://schemas.microsoft.com/office/drawing/2014/main" id="{475C14B0-A90F-DECF-AF2C-927DCCBCE50F}"/>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B216D29F-C8DB-664F-D41F-7F19A71A86EC}"/>
              </a:ext>
            </a:extLst>
          </p:cNvPr>
          <p:cNvSpPr txBox="1"/>
          <p:nvPr/>
        </p:nvSpPr>
        <p:spPr>
          <a:xfrm>
            <a:off x="493594" y="1533402"/>
            <a:ext cx="6103960" cy="646331"/>
          </a:xfrm>
          <a:prstGeom prst="rect">
            <a:avLst/>
          </a:prstGeom>
          <a:noFill/>
        </p:spPr>
        <p:txBody>
          <a:bodyPr wrap="square">
            <a:spAutoFit/>
          </a:bodyPr>
          <a:lstStyle/>
          <a:p>
            <a:r>
              <a:rPr lang="en-IN" b="1" dirty="0"/>
              <a:t> </a:t>
            </a:r>
            <a:endParaRPr lang="en-US" b="0" i="0" dirty="0">
              <a:effectLst/>
              <a:latin typeface="Mona Sans VF"/>
            </a:endParaRPr>
          </a:p>
          <a:p>
            <a:pPr algn="l">
              <a:spcAft>
                <a:spcPts val="1200"/>
              </a:spcAft>
              <a:buNone/>
            </a:pPr>
            <a:endParaRPr lang="en-US" b="0" i="0" dirty="0">
              <a:effectLst/>
              <a:latin typeface="Mona Sans VF"/>
            </a:endParaRPr>
          </a:p>
        </p:txBody>
      </p:sp>
      <p:graphicFrame>
        <p:nvGraphicFramePr>
          <p:cNvPr id="7" name="Table 6">
            <a:extLst>
              <a:ext uri="{FF2B5EF4-FFF2-40B4-BE49-F238E27FC236}">
                <a16:creationId xmlns:a16="http://schemas.microsoft.com/office/drawing/2014/main" id="{4FFCF945-FA99-B89F-F46E-8BAC1FC4039D}"/>
              </a:ext>
            </a:extLst>
          </p:cNvPr>
          <p:cNvGraphicFramePr>
            <a:graphicFrameLocks noGrp="1"/>
          </p:cNvGraphicFramePr>
          <p:nvPr>
            <p:extLst>
              <p:ext uri="{D42A27DB-BD31-4B8C-83A1-F6EECF244321}">
                <p14:modId xmlns:p14="http://schemas.microsoft.com/office/powerpoint/2010/main" val="94529307"/>
              </p:ext>
            </p:extLst>
          </p:nvPr>
        </p:nvGraphicFramePr>
        <p:xfrm>
          <a:off x="609600" y="1856567"/>
          <a:ext cx="10506501" cy="4585177"/>
        </p:xfrm>
        <a:graphic>
          <a:graphicData uri="http://schemas.openxmlformats.org/drawingml/2006/table">
            <a:tbl>
              <a:tblPr/>
              <a:tblGrid>
                <a:gridCol w="3502167">
                  <a:extLst>
                    <a:ext uri="{9D8B030D-6E8A-4147-A177-3AD203B41FA5}">
                      <a16:colId xmlns:a16="http://schemas.microsoft.com/office/drawing/2014/main" val="1199987328"/>
                    </a:ext>
                  </a:extLst>
                </a:gridCol>
                <a:gridCol w="3502167">
                  <a:extLst>
                    <a:ext uri="{9D8B030D-6E8A-4147-A177-3AD203B41FA5}">
                      <a16:colId xmlns:a16="http://schemas.microsoft.com/office/drawing/2014/main" val="3190639694"/>
                    </a:ext>
                  </a:extLst>
                </a:gridCol>
                <a:gridCol w="3502167">
                  <a:extLst>
                    <a:ext uri="{9D8B030D-6E8A-4147-A177-3AD203B41FA5}">
                      <a16:colId xmlns:a16="http://schemas.microsoft.com/office/drawing/2014/main" val="4177022873"/>
                    </a:ext>
                  </a:extLst>
                </a:gridCol>
              </a:tblGrid>
              <a:tr h="304119">
                <a:tc>
                  <a:txBody>
                    <a:bodyPr/>
                    <a:lstStyle/>
                    <a:p>
                      <a:pPr>
                        <a:buNone/>
                      </a:pPr>
                      <a:r>
                        <a:rPr lang="en-IN" sz="1500" b="1">
                          <a:solidFill>
                            <a:schemeClr val="bg1"/>
                          </a:solidFill>
                          <a:effectLst/>
                        </a:rPr>
                        <a:t>AI Component</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500" b="1">
                          <a:solidFill>
                            <a:schemeClr val="bg1"/>
                          </a:solidFill>
                          <a:effectLst/>
                        </a:rPr>
                        <a:t>Usage</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500" b="1">
                          <a:solidFill>
                            <a:schemeClr val="bg1"/>
                          </a:solidFill>
                          <a:effectLst/>
                        </a:rPr>
                        <a:t>Detail</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691606577"/>
                  </a:ext>
                </a:extLst>
              </a:tr>
              <a:tr h="795388">
                <a:tc>
                  <a:txBody>
                    <a:bodyPr/>
                    <a:lstStyle/>
                    <a:p>
                      <a:pPr>
                        <a:buNone/>
                      </a:pPr>
                      <a:r>
                        <a:rPr lang="en-IN" sz="1500">
                          <a:solidFill>
                            <a:schemeClr val="bg1"/>
                          </a:solidFill>
                          <a:effectLst/>
                        </a:rPr>
                        <a:t>Groq API</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500">
                          <a:solidFill>
                            <a:schemeClr val="bg1"/>
                          </a:solidFill>
                          <a:effectLst/>
                        </a:rPr>
                        <a:t>Primary LLM inference API</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500">
                          <a:solidFill>
                            <a:schemeClr val="bg1"/>
                          </a:solidFill>
                          <a:effectLst/>
                        </a:rPr>
                        <a:t>Free tier; JSON mode enforced on every call; exponential backoff with jitter on 429 errors</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255576319"/>
                  </a:ext>
                </a:extLst>
              </a:tr>
              <a:tr h="795388">
                <a:tc>
                  <a:txBody>
                    <a:bodyPr/>
                    <a:lstStyle/>
                    <a:p>
                      <a:pPr>
                        <a:buNone/>
                      </a:pPr>
                      <a:r>
                        <a:rPr lang="en-IN" sz="1500">
                          <a:solidFill>
                            <a:schemeClr val="bg1"/>
                          </a:solidFill>
                          <a:effectLst/>
                          <a:latin typeface="Monaspace Neon"/>
                        </a:rPr>
                        <a:t>llama3-8b-8192</a:t>
                      </a:r>
                      <a:endParaRPr lang="en-IN" sz="1500">
                        <a:solidFill>
                          <a:schemeClr val="bg1"/>
                        </a:solidFill>
                        <a:effectLst/>
                      </a:endParaRP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500" dirty="0">
                          <a:solidFill>
                            <a:schemeClr val="bg1"/>
                          </a:solidFill>
                          <a:effectLst/>
                        </a:rPr>
                        <a:t>Intent/filtering/formatting tasks</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500">
                          <a:solidFill>
                            <a:schemeClr val="bg1"/>
                          </a:solidFill>
                          <a:effectLst/>
                        </a:rPr>
                        <a:t>6,000 TPM; used for preprocessing and output formatting at near-zero latency</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018727097"/>
                  </a:ext>
                </a:extLst>
              </a:tr>
              <a:tr h="795388">
                <a:tc>
                  <a:txBody>
                    <a:bodyPr/>
                    <a:lstStyle/>
                    <a:p>
                      <a:pPr>
                        <a:buNone/>
                      </a:pPr>
                      <a:r>
                        <a:rPr lang="en-IN" sz="1500">
                          <a:solidFill>
                            <a:schemeClr val="bg1"/>
                          </a:solidFill>
                          <a:effectLst/>
                          <a:latin typeface="Monaspace Neon"/>
                        </a:rPr>
                        <a:t>llama3-70b-8192</a:t>
                      </a:r>
                      <a:endParaRPr lang="en-IN" sz="1500">
                        <a:solidFill>
                          <a:schemeClr val="bg1"/>
                        </a:solidFill>
                        <a:effectLst/>
                      </a:endParaRP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500">
                          <a:solidFill>
                            <a:schemeClr val="bg1"/>
                          </a:solidFill>
                          <a:effectLst/>
                        </a:rPr>
                        <a:t>Deep legal and pattern reasoning</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500">
                          <a:solidFill>
                            <a:schemeClr val="bg1"/>
                          </a:solidFill>
                          <a:effectLst/>
                        </a:rPr>
                        <a:t>Lower TPM; used only for high-stakes analysis where accuracy is critical</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661478589"/>
                  </a:ext>
                </a:extLst>
              </a:tr>
              <a:tr h="549753">
                <a:tc>
                  <a:txBody>
                    <a:bodyPr/>
                    <a:lstStyle/>
                    <a:p>
                      <a:pPr>
                        <a:buNone/>
                      </a:pPr>
                      <a:r>
                        <a:rPr lang="en-IN" sz="1500">
                          <a:solidFill>
                            <a:schemeClr val="bg1"/>
                          </a:solidFill>
                          <a:effectLst/>
                        </a:rPr>
                        <a:t>OpenClaw skill orchestration</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500">
                          <a:solidFill>
                            <a:schemeClr val="bg1"/>
                          </a:solidFill>
                          <a:effectLst/>
                        </a:rPr>
                        <a:t>Structured execution and agent behavior management</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500">
                          <a:solidFill>
                            <a:schemeClr val="bg1"/>
                          </a:solidFill>
                          <a:effectLst/>
                        </a:rPr>
                        <a:t>SOUL.md personality, SKILL.md registry, Pi Engine execution loop</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657136951"/>
                  </a:ext>
                </a:extLst>
              </a:tr>
              <a:tr h="795388">
                <a:tc>
                  <a:txBody>
                    <a:bodyPr/>
                    <a:lstStyle/>
                    <a:p>
                      <a:pPr>
                        <a:buNone/>
                      </a:pPr>
                      <a:r>
                        <a:rPr lang="en-IN" sz="1500">
                          <a:solidFill>
                            <a:schemeClr val="bg1"/>
                          </a:solidFill>
                          <a:effectLst/>
                        </a:rPr>
                        <a:t>ChromaDB</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sz="1500">
                          <a:solidFill>
                            <a:schemeClr val="bg1"/>
                          </a:solidFill>
                          <a:effectLst/>
                        </a:rPr>
                        <a:t>Vector similarity search</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sz="1500">
                          <a:solidFill>
                            <a:schemeClr val="bg1"/>
                          </a:solidFill>
                          <a:effectLst/>
                        </a:rPr>
                        <a:t>Cosine distance metric; </a:t>
                      </a:r>
                      <a:r>
                        <a:rPr lang="en-US" sz="1500">
                          <a:solidFill>
                            <a:schemeClr val="bg1"/>
                          </a:solidFill>
                          <a:effectLst/>
                          <a:latin typeface="Monaspace Neon"/>
                        </a:rPr>
                        <a:t>dark_patterns</a:t>
                      </a:r>
                      <a:r>
                        <a:rPr lang="en-US" sz="1500">
                          <a:solidFill>
                            <a:schemeClr val="bg1"/>
                          </a:solidFill>
                          <a:effectLst/>
                        </a:rPr>
                        <a:t> collection; top-5 retrieval for RAG</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996739915"/>
                  </a:ext>
                </a:extLst>
              </a:tr>
              <a:tr h="549753">
                <a:tc>
                  <a:txBody>
                    <a:bodyPr/>
                    <a:lstStyle/>
                    <a:p>
                      <a:pPr>
                        <a:buNone/>
                      </a:pPr>
                      <a:r>
                        <a:rPr lang="en-IN" sz="1500">
                          <a:solidFill>
                            <a:schemeClr val="bg1"/>
                          </a:solidFill>
                          <a:effectLst/>
                          <a:latin typeface="Monaspace Neon"/>
                        </a:rPr>
                        <a:t>@xenova/transformers</a:t>
                      </a:r>
                      <a:endParaRPr lang="en-IN" sz="1500">
                        <a:solidFill>
                          <a:schemeClr val="bg1"/>
                        </a:solidFill>
                        <a:effectLst/>
                      </a:endParaRP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sz="1500">
                          <a:solidFill>
                            <a:schemeClr val="bg1"/>
                          </a:solidFill>
                          <a:effectLst/>
                        </a:rPr>
                        <a:t>Local text embedding</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sz="1500" dirty="0">
                          <a:solidFill>
                            <a:schemeClr val="bg1"/>
                          </a:solidFill>
                          <a:effectLst/>
                        </a:rPr>
                        <a:t>Generates vector representations without external API dependency</a:t>
                      </a:r>
                    </a:p>
                  </a:txBody>
                  <a:tcPr marL="60127" marR="60127" marT="27751" marB="27751"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750418541"/>
                  </a:ext>
                </a:extLst>
              </a:tr>
            </a:tbl>
          </a:graphicData>
        </a:graphic>
      </p:graphicFrame>
      <p:sp>
        <p:nvSpPr>
          <p:cNvPr id="10" name="TextBox 9">
            <a:extLst>
              <a:ext uri="{FF2B5EF4-FFF2-40B4-BE49-F238E27FC236}">
                <a16:creationId xmlns:a16="http://schemas.microsoft.com/office/drawing/2014/main" id="{143450FB-675E-FB63-289E-10BB81522E2A}"/>
              </a:ext>
            </a:extLst>
          </p:cNvPr>
          <p:cNvSpPr txBox="1"/>
          <p:nvPr/>
        </p:nvSpPr>
        <p:spPr>
          <a:xfrm>
            <a:off x="609600" y="1074093"/>
            <a:ext cx="6103960" cy="523220"/>
          </a:xfrm>
          <a:prstGeom prst="rect">
            <a:avLst/>
          </a:prstGeom>
          <a:noFill/>
        </p:spPr>
        <p:txBody>
          <a:bodyPr wrap="square">
            <a:spAutoFit/>
          </a:bodyPr>
          <a:lstStyle/>
          <a:p>
            <a:pPr algn="l">
              <a:spcBef>
                <a:spcPts val="1800"/>
              </a:spcBef>
              <a:spcAft>
                <a:spcPts val="1200"/>
              </a:spcAft>
              <a:buNone/>
            </a:pPr>
            <a:r>
              <a:rPr lang="en-IN" sz="2800" b="1" i="0" u="sng" dirty="0">
                <a:effectLst/>
                <a:latin typeface="Mona Sans VF"/>
              </a:rPr>
              <a:t>AI usage (models, APIs, frameworks)-</a:t>
            </a:r>
          </a:p>
        </p:txBody>
      </p:sp>
    </p:spTree>
    <p:extLst>
      <p:ext uri="{BB962C8B-B14F-4D97-AF65-F5344CB8AC3E}">
        <p14:creationId xmlns:p14="http://schemas.microsoft.com/office/powerpoint/2010/main" val="3910113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03817-5D86-A42A-BBD1-8296798FA7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349561-09A4-E6A8-0D6F-B36562165360}"/>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4215DA03-8C2D-C28B-EBCB-E9AB142DF001}"/>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440B328-515F-6FA4-3BEF-96820841FE59}"/>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F3EA5094-D667-F4F3-25B7-A6D02AB7176C}"/>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A8893D1F-2081-019F-ED85-AF8671739C04}"/>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403B26B5-F742-7519-7737-50A569D27204}"/>
              </a:ext>
            </a:extLst>
          </p:cNvPr>
          <p:cNvSpPr txBox="1"/>
          <p:nvPr/>
        </p:nvSpPr>
        <p:spPr>
          <a:xfrm>
            <a:off x="493594" y="1533402"/>
            <a:ext cx="6103960" cy="800219"/>
          </a:xfrm>
          <a:prstGeom prst="rect">
            <a:avLst/>
          </a:prstGeom>
          <a:noFill/>
        </p:spPr>
        <p:txBody>
          <a:bodyPr wrap="square">
            <a:spAutoFit/>
          </a:bodyPr>
          <a:lstStyle/>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sp>
        <p:nvSpPr>
          <p:cNvPr id="9" name="TextBox 8">
            <a:extLst>
              <a:ext uri="{FF2B5EF4-FFF2-40B4-BE49-F238E27FC236}">
                <a16:creationId xmlns:a16="http://schemas.microsoft.com/office/drawing/2014/main" id="{930C4D24-786B-C0EA-BCD6-EBF425E2CA83}"/>
              </a:ext>
            </a:extLst>
          </p:cNvPr>
          <p:cNvSpPr txBox="1"/>
          <p:nvPr/>
        </p:nvSpPr>
        <p:spPr>
          <a:xfrm>
            <a:off x="660858" y="1417985"/>
            <a:ext cx="6103960" cy="1031051"/>
          </a:xfrm>
          <a:prstGeom prst="rect">
            <a:avLst/>
          </a:prstGeom>
          <a:noFill/>
        </p:spPr>
        <p:txBody>
          <a:bodyPr wrap="square">
            <a:spAutoFit/>
          </a:bodyPr>
          <a:lstStyle/>
          <a:p>
            <a:pPr>
              <a:spcBef>
                <a:spcPts val="1800"/>
              </a:spcBef>
              <a:spcAft>
                <a:spcPts val="1200"/>
              </a:spcAft>
            </a:pPr>
            <a:r>
              <a:rPr lang="en-IN" b="1" u="sng" dirty="0"/>
              <a:t>System flow (simple</a:t>
            </a:r>
            <a:r>
              <a:rPr lang="en-IN" b="1" dirty="0"/>
              <a:t>)</a:t>
            </a:r>
          </a:p>
          <a:p>
            <a:pPr algn="l">
              <a:spcBef>
                <a:spcPts val="1800"/>
              </a:spcBef>
              <a:spcAft>
                <a:spcPts val="1200"/>
              </a:spcAft>
              <a:buNone/>
            </a:pPr>
            <a:endParaRPr lang="en-IN" b="1" i="0" dirty="0">
              <a:solidFill>
                <a:srgbClr val="F0F6FC"/>
              </a:solidFill>
              <a:effectLst/>
              <a:latin typeface="Mona Sans VF"/>
            </a:endParaRPr>
          </a:p>
        </p:txBody>
      </p:sp>
      <p:pic>
        <p:nvPicPr>
          <p:cNvPr id="11" name="Picture 10">
            <a:extLst>
              <a:ext uri="{FF2B5EF4-FFF2-40B4-BE49-F238E27FC236}">
                <a16:creationId xmlns:a16="http://schemas.microsoft.com/office/drawing/2014/main" id="{25881673-2AF7-B37E-9938-FF89F4C0F4DC}"/>
              </a:ext>
            </a:extLst>
          </p:cNvPr>
          <p:cNvPicPr>
            <a:picLocks noChangeAspect="1"/>
          </p:cNvPicPr>
          <p:nvPr/>
        </p:nvPicPr>
        <p:blipFill>
          <a:blip r:embed="rId3"/>
          <a:stretch>
            <a:fillRect/>
          </a:stretch>
        </p:blipFill>
        <p:spPr>
          <a:xfrm>
            <a:off x="1918856" y="1908939"/>
            <a:ext cx="6413102" cy="5047849"/>
          </a:xfrm>
          <a:prstGeom prst="rect">
            <a:avLst/>
          </a:prstGeom>
        </p:spPr>
      </p:pic>
    </p:spTree>
    <p:extLst>
      <p:ext uri="{BB962C8B-B14F-4D97-AF65-F5344CB8AC3E}">
        <p14:creationId xmlns:p14="http://schemas.microsoft.com/office/powerpoint/2010/main" val="4179535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10A52-0BF6-5AAD-A6A7-E0DAE139BE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4B7FB4-27AC-BFE9-C9B2-078B0988AC25}"/>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BC9DB15B-36C0-66D7-B107-093AB2E97FD9}"/>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272FE7CD-ECA8-CD7B-F24E-3B845F4B8BFC}"/>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D48E2FFC-A184-84CC-1F28-2738BC041504}"/>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A1E33973-076E-DEA9-F6EE-2AD669BFB7E4}"/>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EA936232-9231-2F31-DD7F-22238C267CC0}"/>
              </a:ext>
            </a:extLst>
          </p:cNvPr>
          <p:cNvSpPr txBox="1"/>
          <p:nvPr/>
        </p:nvSpPr>
        <p:spPr>
          <a:xfrm>
            <a:off x="493594" y="1533402"/>
            <a:ext cx="6103960" cy="800219"/>
          </a:xfrm>
          <a:prstGeom prst="rect">
            <a:avLst/>
          </a:prstGeom>
          <a:noFill/>
        </p:spPr>
        <p:txBody>
          <a:bodyPr wrap="square">
            <a:spAutoFit/>
          </a:bodyPr>
          <a:lstStyle/>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sp>
        <p:nvSpPr>
          <p:cNvPr id="9" name="TextBox 8">
            <a:extLst>
              <a:ext uri="{FF2B5EF4-FFF2-40B4-BE49-F238E27FC236}">
                <a16:creationId xmlns:a16="http://schemas.microsoft.com/office/drawing/2014/main" id="{E361FE58-1B94-F863-83A4-B1106E9B2DDE}"/>
              </a:ext>
            </a:extLst>
          </p:cNvPr>
          <p:cNvSpPr txBox="1"/>
          <p:nvPr/>
        </p:nvSpPr>
        <p:spPr>
          <a:xfrm>
            <a:off x="609600" y="1417985"/>
            <a:ext cx="6103960" cy="923330"/>
          </a:xfrm>
          <a:prstGeom prst="rect">
            <a:avLst/>
          </a:prstGeom>
          <a:noFill/>
        </p:spPr>
        <p:txBody>
          <a:bodyPr wrap="square">
            <a:spAutoFit/>
          </a:bodyPr>
          <a:lstStyle/>
          <a:p>
            <a:r>
              <a:rPr lang="en-IN" b="1" u="sng" dirty="0"/>
              <a:t>Request lifecycle sequence-</a:t>
            </a:r>
          </a:p>
          <a:p>
            <a:br>
              <a:rPr lang="en-IN" dirty="0"/>
            </a:br>
            <a:endParaRPr lang="en-IN" b="1" i="0" dirty="0">
              <a:solidFill>
                <a:srgbClr val="F0F6FC"/>
              </a:solidFill>
              <a:effectLst/>
              <a:latin typeface="Mona Sans VF"/>
            </a:endParaRPr>
          </a:p>
        </p:txBody>
      </p:sp>
      <p:pic>
        <p:nvPicPr>
          <p:cNvPr id="7" name="Picture 6">
            <a:extLst>
              <a:ext uri="{FF2B5EF4-FFF2-40B4-BE49-F238E27FC236}">
                <a16:creationId xmlns:a16="http://schemas.microsoft.com/office/drawing/2014/main" id="{5FB55FB3-0737-C7E8-16D2-1A4DA9AF63E4}"/>
              </a:ext>
            </a:extLst>
          </p:cNvPr>
          <p:cNvPicPr>
            <a:picLocks noChangeAspect="1"/>
          </p:cNvPicPr>
          <p:nvPr/>
        </p:nvPicPr>
        <p:blipFill>
          <a:blip r:embed="rId3"/>
          <a:stretch>
            <a:fillRect/>
          </a:stretch>
        </p:blipFill>
        <p:spPr>
          <a:xfrm>
            <a:off x="1447544" y="1826588"/>
            <a:ext cx="7478092" cy="4864675"/>
          </a:xfrm>
          <a:prstGeom prst="rect">
            <a:avLst/>
          </a:prstGeom>
        </p:spPr>
      </p:pic>
    </p:spTree>
    <p:extLst>
      <p:ext uri="{BB962C8B-B14F-4D97-AF65-F5344CB8AC3E}">
        <p14:creationId xmlns:p14="http://schemas.microsoft.com/office/powerpoint/2010/main" val="2693327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D4B0-BB65-9116-1806-20081CE53E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DEFA09-8545-CEE9-CBAA-D82863333937}"/>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0876FD70-62B8-5D32-A5F5-4137BB6E641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2547B9A2-79D6-CB13-46D3-C30AE703A055}"/>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29CA0A5A-98EC-FFAB-D688-37667254FAA3}"/>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FBAE5F89-4860-0B10-6D9F-95AC645BA49E}"/>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1D7ADE00-B1B9-BECB-F69D-28C94FE7854A}"/>
              </a:ext>
            </a:extLst>
          </p:cNvPr>
          <p:cNvSpPr txBox="1"/>
          <p:nvPr/>
        </p:nvSpPr>
        <p:spPr>
          <a:xfrm>
            <a:off x="493594" y="1533402"/>
            <a:ext cx="6103960" cy="800219"/>
          </a:xfrm>
          <a:prstGeom prst="rect">
            <a:avLst/>
          </a:prstGeom>
          <a:noFill/>
        </p:spPr>
        <p:txBody>
          <a:bodyPr wrap="square">
            <a:spAutoFit/>
          </a:bodyPr>
          <a:lstStyle/>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sp>
        <p:nvSpPr>
          <p:cNvPr id="9" name="TextBox 8">
            <a:extLst>
              <a:ext uri="{FF2B5EF4-FFF2-40B4-BE49-F238E27FC236}">
                <a16:creationId xmlns:a16="http://schemas.microsoft.com/office/drawing/2014/main" id="{EF7C7CAD-8992-B1A9-FD71-84678409CC09}"/>
              </a:ext>
            </a:extLst>
          </p:cNvPr>
          <p:cNvSpPr txBox="1"/>
          <p:nvPr/>
        </p:nvSpPr>
        <p:spPr>
          <a:xfrm>
            <a:off x="609600" y="1417985"/>
            <a:ext cx="6103960" cy="369332"/>
          </a:xfrm>
          <a:prstGeom prst="rect">
            <a:avLst/>
          </a:prstGeom>
          <a:noFill/>
        </p:spPr>
        <p:txBody>
          <a:bodyPr wrap="square">
            <a:spAutoFit/>
          </a:bodyPr>
          <a:lstStyle/>
          <a:p>
            <a:r>
              <a:rPr lang="en-IN" b="1" u="sng" dirty="0"/>
              <a:t>Detailed step-by-step data flow-</a:t>
            </a:r>
          </a:p>
        </p:txBody>
      </p:sp>
      <p:sp>
        <p:nvSpPr>
          <p:cNvPr id="8" name="TextBox 7">
            <a:extLst>
              <a:ext uri="{FF2B5EF4-FFF2-40B4-BE49-F238E27FC236}">
                <a16:creationId xmlns:a16="http://schemas.microsoft.com/office/drawing/2014/main" id="{F6EF1CA3-DFD2-3D8C-705D-F4A174241C7C}"/>
              </a:ext>
            </a:extLst>
          </p:cNvPr>
          <p:cNvSpPr txBox="1"/>
          <p:nvPr/>
        </p:nvSpPr>
        <p:spPr>
          <a:xfrm>
            <a:off x="565243" y="1712794"/>
            <a:ext cx="12296633" cy="4524315"/>
          </a:xfrm>
          <a:prstGeom prst="rect">
            <a:avLst/>
          </a:prstGeom>
          <a:noFill/>
        </p:spPr>
        <p:txBody>
          <a:bodyPr wrap="square">
            <a:spAutoFit/>
          </a:bodyPr>
          <a:lstStyle/>
          <a:p>
            <a:r>
              <a:rPr lang="en-IN" sz="1200" dirty="0"/>
              <a:t>1. </a:t>
            </a:r>
            <a:r>
              <a:rPr lang="en-IN" sz="1200" b="1" dirty="0"/>
              <a:t>Input arrives</a:t>
            </a:r>
          </a:p>
          <a:p>
            <a:r>
              <a:rPr lang="en-IN" sz="1200" dirty="0"/>
              <a:t>   └── Telegram: user sends "Scan https://example.com"</a:t>
            </a:r>
          </a:p>
          <a:p>
            <a:r>
              <a:rPr lang="en-IN" sz="1200" dirty="0"/>
              <a:t>2. </a:t>
            </a:r>
            <a:r>
              <a:rPr lang="en-IN" sz="1200" b="1" dirty="0"/>
              <a:t>Intent Classification  [Groq 8b]</a:t>
            </a:r>
          </a:p>
          <a:p>
            <a:r>
              <a:rPr lang="en-IN" sz="1200" dirty="0"/>
              <a:t>   └── Classifies: SCAN | ADD_WATCHLIST | EXPLAIN | UNKNOWN</a:t>
            </a:r>
          </a:p>
          <a:p>
            <a:r>
              <a:rPr lang="en-IN" sz="1200" dirty="0"/>
              <a:t>3. </a:t>
            </a:r>
            <a:r>
              <a:rPr lang="en-IN" sz="1200" b="1" dirty="0"/>
              <a:t>Task Planner  [Rule-based, no LLM]</a:t>
            </a:r>
          </a:p>
          <a:p>
            <a:r>
              <a:rPr lang="en-IN" sz="1200" dirty="0"/>
              <a:t>   └── Returns fixed skill chain for intent</a:t>
            </a:r>
          </a:p>
          <a:p>
            <a:r>
              <a:rPr lang="en-IN" sz="1200" dirty="0"/>
              <a:t>   └── SCAN → [scrape, </a:t>
            </a:r>
            <a:r>
              <a:rPr lang="en-IN" sz="1200" dirty="0" err="1"/>
              <a:t>analyseTos</a:t>
            </a:r>
            <a:r>
              <a:rPr lang="en-IN" sz="1200" dirty="0"/>
              <a:t>, </a:t>
            </a:r>
            <a:r>
              <a:rPr lang="en-IN" sz="1200" dirty="0" err="1"/>
              <a:t>detectPatterns</a:t>
            </a:r>
            <a:r>
              <a:rPr lang="en-IN" sz="1200" dirty="0"/>
              <a:t>, </a:t>
            </a:r>
            <a:r>
              <a:rPr lang="en-IN" sz="1200" dirty="0" err="1"/>
              <a:t>generateResponse</a:t>
            </a:r>
            <a:r>
              <a:rPr lang="en-IN" sz="1200" dirty="0"/>
              <a:t>]</a:t>
            </a:r>
          </a:p>
          <a:p>
            <a:r>
              <a:rPr lang="en-IN" sz="1200" dirty="0"/>
              <a:t>4. </a:t>
            </a:r>
            <a:r>
              <a:rPr lang="en-IN" sz="1200" b="1" dirty="0"/>
              <a:t>Scraper Skill  [Playwright + Axios fallback]</a:t>
            </a:r>
          </a:p>
          <a:p>
            <a:r>
              <a:rPr lang="en-IN" sz="1200" dirty="0"/>
              <a:t>   └── Playwright → DOM text (first 8000 chars) + </a:t>
            </a:r>
            <a:r>
              <a:rPr lang="en-IN" sz="1200" dirty="0" err="1"/>
              <a:t>ToS</a:t>
            </a:r>
            <a:r>
              <a:rPr lang="en-IN" sz="1200" dirty="0"/>
              <a:t> text (first 20000 chars)</a:t>
            </a:r>
          </a:p>
          <a:p>
            <a:r>
              <a:rPr lang="en-IN" sz="1200" dirty="0"/>
              <a:t>   └── Automatic </a:t>
            </a:r>
            <a:r>
              <a:rPr lang="en-IN" sz="1200" dirty="0" err="1"/>
              <a:t>ToS</a:t>
            </a:r>
            <a:r>
              <a:rPr lang="en-IN" sz="1200" dirty="0"/>
              <a:t> link discovery (searches for terms/</a:t>
            </a:r>
            <a:r>
              <a:rPr lang="en-IN" sz="1200" dirty="0" err="1"/>
              <a:t>tos</a:t>
            </a:r>
            <a:r>
              <a:rPr lang="en-IN" sz="1200" dirty="0"/>
              <a:t>/terms-of-service)</a:t>
            </a:r>
          </a:p>
          <a:p>
            <a:r>
              <a:rPr lang="en-IN" sz="1200" dirty="0"/>
              <a:t>   └── Fallback: Axios if Playwright blocked by bot detection</a:t>
            </a:r>
          </a:p>
          <a:p>
            <a:r>
              <a:rPr lang="en-IN" sz="1200" dirty="0"/>
              <a:t>5. </a:t>
            </a:r>
            <a:r>
              <a:rPr lang="en-IN" sz="1200" b="1" dirty="0" err="1"/>
              <a:t>ToS</a:t>
            </a:r>
            <a:r>
              <a:rPr lang="en-IN" sz="1200" b="1" dirty="0"/>
              <a:t> Analysis  [Groq 8b pre-filter → </a:t>
            </a:r>
            <a:r>
              <a:rPr lang="en-IN" sz="1200" b="1" dirty="0" err="1"/>
              <a:t>Groq</a:t>
            </a:r>
            <a:r>
              <a:rPr lang="en-IN" sz="1200" b="1" dirty="0"/>
              <a:t> 70b deep analysis]</a:t>
            </a:r>
          </a:p>
          <a:p>
            <a:r>
              <a:rPr lang="en-IN" sz="1200" dirty="0"/>
              <a:t>   └── </a:t>
            </a:r>
            <a:r>
              <a:rPr lang="en-IN" sz="1200" dirty="0" err="1"/>
              <a:t>Chunker</a:t>
            </a:r>
            <a:r>
              <a:rPr lang="en-IN" sz="1200" dirty="0"/>
              <a:t> splits </a:t>
            </a:r>
            <a:r>
              <a:rPr lang="en-IN" sz="1200" dirty="0" err="1"/>
              <a:t>ToS</a:t>
            </a:r>
            <a:r>
              <a:rPr lang="en-IN" sz="1200" dirty="0"/>
              <a:t> into 512-token windows with 64-token overlap</a:t>
            </a:r>
          </a:p>
          <a:p>
            <a:r>
              <a:rPr lang="en-IN" sz="1200" dirty="0"/>
              <a:t>   └── </a:t>
            </a:r>
            <a:r>
              <a:rPr lang="en-IN" sz="1200" dirty="0" err="1"/>
              <a:t>Groq</a:t>
            </a:r>
            <a:r>
              <a:rPr lang="en-IN" sz="1200" dirty="0"/>
              <a:t> 8b: filter irrelevant chunks (drops ~65%)</a:t>
            </a:r>
          </a:p>
          <a:p>
            <a:r>
              <a:rPr lang="en-IN" sz="1200" dirty="0"/>
              <a:t>   └── </a:t>
            </a:r>
            <a:r>
              <a:rPr lang="en-IN" sz="1200" dirty="0" err="1"/>
              <a:t>Groq</a:t>
            </a:r>
            <a:r>
              <a:rPr lang="en-IN" sz="1200" dirty="0"/>
              <a:t> 70b: extract manipulative clauses → JSON array [{text, type, severity}]</a:t>
            </a:r>
          </a:p>
          <a:p>
            <a:r>
              <a:rPr lang="en-IN" sz="1200" dirty="0"/>
              <a:t>6. </a:t>
            </a:r>
            <a:r>
              <a:rPr lang="en-IN" sz="1200" b="1" dirty="0"/>
              <a:t>Pattern Detection  [</a:t>
            </a:r>
            <a:r>
              <a:rPr lang="en-IN" sz="1200" b="1" dirty="0" err="1"/>
              <a:t>Groq</a:t>
            </a:r>
            <a:r>
              <a:rPr lang="en-IN" sz="1200" b="1" dirty="0"/>
              <a:t> 70b + </a:t>
            </a:r>
            <a:r>
              <a:rPr lang="en-IN" sz="1200" b="1" dirty="0" err="1"/>
              <a:t>ChromaDB</a:t>
            </a:r>
            <a:r>
              <a:rPr lang="en-IN" sz="1200" b="1" dirty="0"/>
              <a:t> RAG]</a:t>
            </a:r>
          </a:p>
          <a:p>
            <a:r>
              <a:rPr lang="en-IN" sz="1200" dirty="0"/>
              <a:t>   └── </a:t>
            </a:r>
            <a:r>
              <a:rPr lang="en-IN" sz="1200" dirty="0" err="1"/>
              <a:t>ChromaDB</a:t>
            </a:r>
            <a:r>
              <a:rPr lang="en-IN" sz="1200" dirty="0"/>
              <a:t>: retrieve top-5 similar past patterns (RAG context)</a:t>
            </a:r>
          </a:p>
          <a:p>
            <a:r>
              <a:rPr lang="en-IN" sz="1200" dirty="0"/>
              <a:t>   └── </a:t>
            </a:r>
            <a:r>
              <a:rPr lang="en-IN" sz="1200" dirty="0" err="1"/>
              <a:t>Groq</a:t>
            </a:r>
            <a:r>
              <a:rPr lang="en-IN" sz="1200" dirty="0"/>
              <a:t> 70b: classify patterns with RAG context injected into prompt</a:t>
            </a:r>
          </a:p>
          <a:p>
            <a:r>
              <a:rPr lang="en-IN" sz="1200" dirty="0"/>
              <a:t>   └── </a:t>
            </a:r>
            <a:r>
              <a:rPr lang="en-IN" sz="1200" dirty="0" err="1"/>
              <a:t>ChromaDB</a:t>
            </a:r>
            <a:r>
              <a:rPr lang="en-IN" sz="1200" dirty="0"/>
              <a:t>: store new pattern embeddings (community intelligence)</a:t>
            </a:r>
          </a:p>
          <a:p>
            <a:r>
              <a:rPr lang="en-IN" sz="1200" dirty="0"/>
              <a:t>   └── </a:t>
            </a:r>
            <a:r>
              <a:rPr lang="en-IN" sz="1200" dirty="0" err="1"/>
              <a:t>novel_queue.jsonl</a:t>
            </a:r>
            <a:r>
              <a:rPr lang="en-IN" sz="1200" dirty="0"/>
              <a:t>: write NOVEL patterns (cosine similarity &lt; 0.75)</a:t>
            </a:r>
          </a:p>
          <a:p>
            <a:r>
              <a:rPr lang="en-IN" sz="1200" dirty="0"/>
              <a:t>7. </a:t>
            </a:r>
            <a:r>
              <a:rPr lang="en-IN" sz="1200" b="1" dirty="0"/>
              <a:t>Response Generation  [</a:t>
            </a:r>
            <a:r>
              <a:rPr lang="en-IN" sz="1200" b="1" dirty="0" err="1"/>
              <a:t>Groq</a:t>
            </a:r>
            <a:r>
              <a:rPr lang="en-IN" sz="1200" b="1" dirty="0"/>
              <a:t> 8b formatter]</a:t>
            </a:r>
          </a:p>
          <a:p>
            <a:r>
              <a:rPr lang="en-IN" sz="1200" dirty="0"/>
              <a:t>   └── Format findings as plain text, max 1000 chars</a:t>
            </a:r>
          </a:p>
          <a:p>
            <a:r>
              <a:rPr lang="en-IN" sz="1200" dirty="0"/>
              <a:t>   └── Risk emoji: 🔴 HIGH · 🟡 MEDIUM · 🟢 LOW · ⚪ NONE</a:t>
            </a:r>
          </a:p>
          <a:p>
            <a:r>
              <a:rPr lang="en-IN" sz="1200" dirty="0"/>
              <a:t>   └── Output: Telegram message delivered to user</a:t>
            </a:r>
          </a:p>
        </p:txBody>
      </p:sp>
    </p:spTree>
    <p:extLst>
      <p:ext uri="{BB962C8B-B14F-4D97-AF65-F5344CB8AC3E}">
        <p14:creationId xmlns:p14="http://schemas.microsoft.com/office/powerpoint/2010/main" val="40337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EA9D4-75D4-63EE-E018-853ED534AB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CBCF5C-5757-1F95-B245-EB2BC2AA94AE}"/>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6A94760A-A1AD-0F70-4ED2-5D33FC4CC5A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FED36931-C8F6-ACD5-2CDB-A3C6B336E4AD}"/>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BDAE8C47-60FD-9FBB-E573-E73711A50831}"/>
              </a:ext>
            </a:extLst>
          </p:cNvPr>
          <p:cNvSpPr/>
          <p:nvPr/>
        </p:nvSpPr>
        <p:spPr>
          <a:xfrm>
            <a:off x="609600" y="670560"/>
            <a:ext cx="10972800" cy="853440"/>
          </a:xfrm>
          <a:prstGeom prst="rect">
            <a:avLst/>
          </a:prstGeom>
          <a:noFill/>
          <a:ln/>
        </p:spPr>
        <p:txBody>
          <a:bodyPr wrap="square" lIns="0" tIns="0" rIns="0" bIns="0" rtlCol="0" anchor="ctr"/>
          <a:lstStyle/>
          <a:p>
            <a:endParaRPr lang="en-US" sz="4267" dirty="0"/>
          </a:p>
        </p:txBody>
      </p:sp>
      <p:sp>
        <p:nvSpPr>
          <p:cNvPr id="18" name="Text 1">
            <a:extLst>
              <a:ext uri="{FF2B5EF4-FFF2-40B4-BE49-F238E27FC236}">
                <a16:creationId xmlns:a16="http://schemas.microsoft.com/office/drawing/2014/main" id="{E0837DA1-04AD-8976-013B-2C591D68714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5" name="TextBox 14">
            <a:extLst>
              <a:ext uri="{FF2B5EF4-FFF2-40B4-BE49-F238E27FC236}">
                <a16:creationId xmlns:a16="http://schemas.microsoft.com/office/drawing/2014/main" id="{A749A04F-A5F9-D7E9-7E47-E8D4F8E7ACD9}"/>
              </a:ext>
            </a:extLst>
          </p:cNvPr>
          <p:cNvSpPr txBox="1"/>
          <p:nvPr/>
        </p:nvSpPr>
        <p:spPr>
          <a:xfrm>
            <a:off x="493594" y="1533402"/>
            <a:ext cx="6103960" cy="800219"/>
          </a:xfrm>
          <a:prstGeom prst="rect">
            <a:avLst/>
          </a:prstGeom>
          <a:noFill/>
        </p:spPr>
        <p:txBody>
          <a:bodyPr wrap="square">
            <a:spAutoFit/>
          </a:bodyPr>
          <a:lstStyle/>
          <a:p>
            <a:pPr>
              <a:spcAft>
                <a:spcPts val="1200"/>
              </a:spcAft>
            </a:pPr>
            <a:endParaRPr lang="en-US" b="0" i="0" dirty="0">
              <a:effectLst/>
              <a:latin typeface="Mona Sans VF"/>
            </a:endParaRPr>
          </a:p>
          <a:p>
            <a:pPr algn="l">
              <a:spcAft>
                <a:spcPts val="1200"/>
              </a:spcAft>
              <a:buNone/>
            </a:pPr>
            <a:endParaRPr lang="en-US" b="0" i="0" dirty="0">
              <a:effectLst/>
              <a:latin typeface="Mona Sans VF"/>
            </a:endParaRPr>
          </a:p>
        </p:txBody>
      </p:sp>
      <p:graphicFrame>
        <p:nvGraphicFramePr>
          <p:cNvPr id="6" name="Table 5">
            <a:extLst>
              <a:ext uri="{FF2B5EF4-FFF2-40B4-BE49-F238E27FC236}">
                <a16:creationId xmlns:a16="http://schemas.microsoft.com/office/drawing/2014/main" id="{0A1C247B-37F6-E8CD-EE73-E60362E849E1}"/>
              </a:ext>
            </a:extLst>
          </p:cNvPr>
          <p:cNvGraphicFramePr>
            <a:graphicFrameLocks noGrp="1"/>
          </p:cNvGraphicFramePr>
          <p:nvPr>
            <p:extLst>
              <p:ext uri="{D42A27DB-BD31-4B8C-83A1-F6EECF244321}">
                <p14:modId xmlns:p14="http://schemas.microsoft.com/office/powerpoint/2010/main" val="3155597388"/>
              </p:ext>
            </p:extLst>
          </p:nvPr>
        </p:nvGraphicFramePr>
        <p:xfrm>
          <a:off x="609599" y="1965875"/>
          <a:ext cx="11017156" cy="4134674"/>
        </p:xfrm>
        <a:graphic>
          <a:graphicData uri="http://schemas.openxmlformats.org/drawingml/2006/table">
            <a:tbl>
              <a:tblPr/>
              <a:tblGrid>
                <a:gridCol w="2754289">
                  <a:extLst>
                    <a:ext uri="{9D8B030D-6E8A-4147-A177-3AD203B41FA5}">
                      <a16:colId xmlns:a16="http://schemas.microsoft.com/office/drawing/2014/main" val="3351478388"/>
                    </a:ext>
                  </a:extLst>
                </a:gridCol>
                <a:gridCol w="2754289">
                  <a:extLst>
                    <a:ext uri="{9D8B030D-6E8A-4147-A177-3AD203B41FA5}">
                      <a16:colId xmlns:a16="http://schemas.microsoft.com/office/drawing/2014/main" val="417497832"/>
                    </a:ext>
                  </a:extLst>
                </a:gridCol>
                <a:gridCol w="2754289">
                  <a:extLst>
                    <a:ext uri="{9D8B030D-6E8A-4147-A177-3AD203B41FA5}">
                      <a16:colId xmlns:a16="http://schemas.microsoft.com/office/drawing/2014/main" val="4025259200"/>
                    </a:ext>
                  </a:extLst>
                </a:gridCol>
                <a:gridCol w="2754289">
                  <a:extLst>
                    <a:ext uri="{9D8B030D-6E8A-4147-A177-3AD203B41FA5}">
                      <a16:colId xmlns:a16="http://schemas.microsoft.com/office/drawing/2014/main" val="1048926199"/>
                    </a:ext>
                  </a:extLst>
                </a:gridCol>
              </a:tblGrid>
              <a:tr h="457453">
                <a:tc>
                  <a:txBody>
                    <a:bodyPr/>
                    <a:lstStyle/>
                    <a:p>
                      <a:pPr>
                        <a:buNone/>
                      </a:pPr>
                      <a:r>
                        <a:rPr lang="en-IN" b="1">
                          <a:solidFill>
                            <a:schemeClr val="bg1"/>
                          </a:solidFill>
                          <a:effectLst/>
                        </a:rPr>
                        <a:t>Component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1"/>
                          </a:solidFill>
                          <a:effectLst/>
                        </a:rPr>
                        <a:t>Failure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1"/>
                          </a:solidFill>
                          <a:effectLst/>
                        </a:rPr>
                        <a:t>Fallback</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1"/>
                          </a:solidFill>
                          <a:effectLst/>
                        </a:rPr>
                        <a:t>User Impact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25592003"/>
                  </a:ext>
                </a:extLst>
              </a:tr>
              <a:tr h="826935">
                <a:tc>
                  <a:txBody>
                    <a:bodyPr/>
                    <a:lstStyle/>
                    <a:p>
                      <a:pPr>
                        <a:buNone/>
                      </a:pPr>
                      <a:r>
                        <a:rPr lang="en-IN">
                          <a:solidFill>
                            <a:schemeClr val="bg1"/>
                          </a:solidFill>
                          <a:effectLst/>
                        </a:rPr>
                        <a:t>Playwright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1"/>
                          </a:solidFill>
                          <a:effectLst/>
                        </a:rPr>
                        <a:t>Bot detection blocks scraping</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Axios HTTP fetch (raw HTML)</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Partial result; ToS may be missing</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148893591"/>
                  </a:ext>
                </a:extLst>
              </a:tr>
              <a:tr h="1196416">
                <a:tc>
                  <a:txBody>
                    <a:bodyPr/>
                    <a:lstStyle/>
                    <a:p>
                      <a:pPr>
                        <a:buNone/>
                      </a:pPr>
                      <a:r>
                        <a:rPr lang="en-IN">
                          <a:solidFill>
                            <a:schemeClr val="bg1"/>
                          </a:solidFill>
                          <a:effectLst/>
                        </a:rPr>
                        <a:t>Groq API</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429 rate limit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1"/>
                          </a:solidFill>
                          <a:effectLst/>
                        </a:rPr>
                        <a:t>Exponential backoff + jitter (2^n × 2s + random, max 3 retries)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Delayed response, not failure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4063424976"/>
                  </a:ext>
                </a:extLst>
              </a:tr>
              <a:tr h="826935">
                <a:tc>
                  <a:txBody>
                    <a:bodyPr/>
                    <a:lstStyle/>
                    <a:p>
                      <a:pPr>
                        <a:buNone/>
                      </a:pPr>
                      <a:r>
                        <a:rPr lang="en-IN">
                          <a:solidFill>
                            <a:schemeClr val="bg1"/>
                          </a:solidFill>
                          <a:effectLst/>
                        </a:rPr>
                        <a:t>ChromaDB</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Unavailable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Detection runs without RAG context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Slightly lower accuracy; flagged in response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58676352"/>
                  </a:ext>
                </a:extLst>
              </a:tr>
              <a:tr h="826935">
                <a:tc>
                  <a:txBody>
                    <a:bodyPr/>
                    <a:lstStyle/>
                    <a:p>
                      <a:pPr>
                        <a:buNone/>
                      </a:pPr>
                      <a:r>
                        <a:rPr lang="en-IN">
                          <a:solidFill>
                            <a:schemeClr val="bg1"/>
                          </a:solidFill>
                          <a:effectLst/>
                        </a:rPr>
                        <a:t>Memory write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File system error</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1"/>
                          </a:solidFill>
                          <a:effectLst/>
                        </a:rPr>
                        <a:t>Scan result queued for retry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bg1"/>
                          </a:solidFill>
                          <a:effectLst/>
                        </a:rPr>
                        <a:t>User notified; scan still completes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736386074"/>
                  </a:ext>
                </a:extLst>
              </a:tr>
            </a:tbl>
          </a:graphicData>
        </a:graphic>
      </p:graphicFrame>
      <p:sp>
        <p:nvSpPr>
          <p:cNvPr id="10" name="TextBox 9">
            <a:extLst>
              <a:ext uri="{FF2B5EF4-FFF2-40B4-BE49-F238E27FC236}">
                <a16:creationId xmlns:a16="http://schemas.microsoft.com/office/drawing/2014/main" id="{C4F98B98-A5A5-E10D-0D42-054CD27A73FC}"/>
              </a:ext>
            </a:extLst>
          </p:cNvPr>
          <p:cNvSpPr txBox="1"/>
          <p:nvPr/>
        </p:nvSpPr>
        <p:spPr>
          <a:xfrm>
            <a:off x="493594" y="1002707"/>
            <a:ext cx="6434918" cy="584775"/>
          </a:xfrm>
          <a:prstGeom prst="rect">
            <a:avLst/>
          </a:prstGeom>
          <a:noFill/>
        </p:spPr>
        <p:txBody>
          <a:bodyPr wrap="square">
            <a:spAutoFit/>
          </a:bodyPr>
          <a:lstStyle/>
          <a:p>
            <a:pPr algn="l">
              <a:spcBef>
                <a:spcPts val="1800"/>
              </a:spcBef>
              <a:spcAft>
                <a:spcPts val="1200"/>
              </a:spcAft>
              <a:buNone/>
            </a:pPr>
            <a:r>
              <a:rPr lang="en-US" sz="3200" b="1" i="0" u="sng" dirty="0">
                <a:effectLst/>
                <a:latin typeface="Mona Sans VF"/>
              </a:rPr>
              <a:t>Failure handling and fallback chain</a:t>
            </a:r>
          </a:p>
        </p:txBody>
      </p:sp>
    </p:spTree>
    <p:extLst>
      <p:ext uri="{BB962C8B-B14F-4D97-AF65-F5344CB8AC3E}">
        <p14:creationId xmlns:p14="http://schemas.microsoft.com/office/powerpoint/2010/main" val="2453593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241111" y="516793"/>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7" name="TextBox 6">
            <a:extLst>
              <a:ext uri="{FF2B5EF4-FFF2-40B4-BE49-F238E27FC236}">
                <a16:creationId xmlns:a16="http://schemas.microsoft.com/office/drawing/2014/main" id="{A8022036-1388-5A86-FDF2-29384EB128B9}"/>
              </a:ext>
            </a:extLst>
          </p:cNvPr>
          <p:cNvSpPr txBox="1"/>
          <p:nvPr/>
        </p:nvSpPr>
        <p:spPr>
          <a:xfrm>
            <a:off x="241111" y="1192542"/>
            <a:ext cx="11950889" cy="4924425"/>
          </a:xfrm>
          <a:prstGeom prst="rect">
            <a:avLst/>
          </a:prstGeom>
          <a:noFill/>
        </p:spPr>
        <p:txBody>
          <a:bodyPr wrap="square">
            <a:spAutoFit/>
          </a:bodyPr>
          <a:lstStyle/>
          <a:p>
            <a:pPr algn="l">
              <a:spcBef>
                <a:spcPts val="1800"/>
              </a:spcBef>
              <a:spcAft>
                <a:spcPts val="1200"/>
              </a:spcAft>
              <a:buNone/>
            </a:pPr>
            <a:r>
              <a:rPr lang="en-US" sz="1600" b="1" i="1" u="sng" dirty="0">
                <a:effectLst/>
                <a:latin typeface="Mona Sans VF"/>
              </a:rPr>
              <a:t>Real-life scenarios (3 different scenarios)</a:t>
            </a:r>
          </a:p>
          <a:p>
            <a:pPr algn="l">
              <a:spcBef>
                <a:spcPts val="1800"/>
              </a:spcBef>
              <a:spcAft>
                <a:spcPts val="1200"/>
              </a:spcAft>
              <a:buNone/>
            </a:pPr>
            <a:r>
              <a:rPr lang="en-US" sz="1600" b="1" i="0" u="sng" dirty="0">
                <a:effectLst/>
                <a:latin typeface="Mona Sans VF"/>
              </a:rPr>
              <a:t>Scenario A — Student checkout protection-</a:t>
            </a:r>
          </a:p>
          <a:p>
            <a:pPr algn="l">
              <a:spcAft>
                <a:spcPts val="1200"/>
              </a:spcAft>
              <a:buNone/>
            </a:pPr>
            <a:r>
              <a:rPr lang="en-US" sz="1600" b="0" i="0" dirty="0">
                <a:effectLst/>
                <a:latin typeface="Mona Sans VF"/>
              </a:rPr>
              <a:t>A college student is ordering food during a late-night study session. They're in a hurry and about to pay on a delivery app. They paste the checkout URL into </a:t>
            </a:r>
            <a:r>
              <a:rPr lang="en-US" sz="1600" b="0" i="0" dirty="0" err="1">
                <a:effectLst/>
                <a:latin typeface="Mona Sans VF"/>
              </a:rPr>
              <a:t>GuardianAI</a:t>
            </a:r>
            <a:r>
              <a:rPr lang="en-US" sz="1600" b="0" i="0" dirty="0">
                <a:effectLst/>
                <a:latin typeface="Mona Sans VF"/>
              </a:rPr>
              <a:t>. Within 20 seconds, the bot flags </a:t>
            </a:r>
            <a:r>
              <a:rPr lang="en-US" sz="1600" b="1" i="0" dirty="0">
                <a:effectLst/>
                <a:latin typeface="Mona Sans VF"/>
              </a:rPr>
              <a:t>hidden fee progression</a:t>
            </a:r>
            <a:r>
              <a:rPr lang="en-US" sz="1600" b="0" i="0" dirty="0">
                <a:effectLst/>
                <a:latin typeface="Mona Sans VF"/>
              </a:rPr>
              <a:t> (delivery fee + packing charge + platform fee appearing only at the final step) and </a:t>
            </a:r>
            <a:r>
              <a:rPr lang="en-US" sz="1600" b="1" i="0" dirty="0">
                <a:effectLst/>
                <a:latin typeface="Mona Sans VF"/>
              </a:rPr>
              <a:t>urgency wording</a:t>
            </a:r>
            <a:r>
              <a:rPr lang="en-US" sz="1600" b="0" i="0" dirty="0">
                <a:effectLst/>
                <a:latin typeface="Mona Sans VF"/>
              </a:rPr>
              <a:t> ("Order in 3 minutes for guaranteed delivery"). The student pauses, checks the actual total, and saves ₹87 in hidden charges.</a:t>
            </a:r>
          </a:p>
          <a:p>
            <a:pPr algn="l">
              <a:spcBef>
                <a:spcPts val="1800"/>
              </a:spcBef>
              <a:spcAft>
                <a:spcPts val="1200"/>
              </a:spcAft>
              <a:buNone/>
            </a:pPr>
            <a:r>
              <a:rPr lang="en-US" sz="1600" b="1" i="0" u="sng" dirty="0">
                <a:effectLst/>
                <a:latin typeface="Mona Sans VF"/>
              </a:rPr>
              <a:t>Scenario B — SaaS subscription due diligence-</a:t>
            </a:r>
          </a:p>
          <a:p>
            <a:pPr algn="l">
              <a:spcAft>
                <a:spcPts val="1200"/>
              </a:spcAft>
              <a:buNone/>
            </a:pPr>
            <a:r>
              <a:rPr lang="en-US" sz="1600" b="0" i="0" dirty="0">
                <a:effectLst/>
                <a:latin typeface="Mona Sans VF"/>
              </a:rPr>
              <a:t>A freelance designer is considering a new project management tool offering a "Free 14-day trial." Before entering their credit card, they scan the signup page with </a:t>
            </a:r>
            <a:r>
              <a:rPr lang="en-US" sz="1600" b="0" i="0" dirty="0" err="1">
                <a:effectLst/>
                <a:latin typeface="Mona Sans VF"/>
              </a:rPr>
              <a:t>GuardianAI</a:t>
            </a:r>
            <a:r>
              <a:rPr lang="en-US" sz="1600" b="0" i="0" dirty="0">
                <a:effectLst/>
                <a:latin typeface="Mona Sans VF"/>
              </a:rPr>
              <a:t>. The bot identifies </a:t>
            </a:r>
            <a:r>
              <a:rPr lang="en-US" sz="1600" b="1" i="0" dirty="0">
                <a:effectLst/>
                <a:latin typeface="Mona Sans VF"/>
              </a:rPr>
              <a:t>forced continuity</a:t>
            </a:r>
            <a:r>
              <a:rPr lang="en-US" sz="1600" b="0" i="0" dirty="0">
                <a:effectLst/>
                <a:latin typeface="Mona Sans VF"/>
              </a:rPr>
              <a:t> (auto-billing starts immediately after trial with no reminder) and </a:t>
            </a:r>
            <a:r>
              <a:rPr lang="en-US" sz="1600" b="1" i="0" dirty="0">
                <a:effectLst/>
                <a:latin typeface="Mona Sans VF"/>
              </a:rPr>
              <a:t>difficult cancellation language</a:t>
            </a:r>
            <a:r>
              <a:rPr lang="en-US" sz="1600" b="0" i="0" dirty="0">
                <a:effectLst/>
                <a:latin typeface="Mona Sans VF"/>
              </a:rPr>
              <a:t> buried in clause 14.3 of the </a:t>
            </a:r>
            <a:r>
              <a:rPr lang="en-US" sz="1600" b="0" i="0" dirty="0" err="1">
                <a:effectLst/>
                <a:latin typeface="Mona Sans VF"/>
              </a:rPr>
              <a:t>ToS</a:t>
            </a:r>
            <a:r>
              <a:rPr lang="en-US" sz="1600" b="0" i="0" dirty="0">
                <a:effectLst/>
                <a:latin typeface="Mona Sans VF"/>
              </a:rPr>
              <a:t>. The freelancer chooses a competing tool with transparent billing instead.</a:t>
            </a:r>
          </a:p>
          <a:p>
            <a:pPr algn="l">
              <a:spcAft>
                <a:spcPts val="1200"/>
              </a:spcAft>
              <a:buNone/>
            </a:pPr>
            <a:r>
              <a:rPr lang="en-US" sz="1600" b="1" i="0" u="sng" dirty="0">
                <a:effectLst/>
                <a:latin typeface="Mona Sans VF"/>
              </a:rPr>
              <a:t>Scenario C — Family app safety check-</a:t>
            </a:r>
          </a:p>
          <a:p>
            <a:pPr algn="l">
              <a:spcAft>
                <a:spcPts val="1200"/>
              </a:spcAft>
              <a:buNone/>
            </a:pPr>
            <a:r>
              <a:rPr lang="en-US" sz="1600" b="0" i="0" dirty="0">
                <a:effectLst/>
                <a:latin typeface="Mona Sans VF"/>
              </a:rPr>
              <a:t>A parent is about to let their teenager download a gaming app with in-app purchases. They scan the app's premium offer page. </a:t>
            </a:r>
            <a:r>
              <a:rPr lang="en-US" sz="1600" b="0" i="0" dirty="0" err="1">
                <a:effectLst/>
                <a:latin typeface="Mona Sans VF"/>
              </a:rPr>
              <a:t>GuardianAI</a:t>
            </a:r>
            <a:r>
              <a:rPr lang="en-US" sz="1600" b="0" i="0" dirty="0">
                <a:effectLst/>
                <a:latin typeface="Mona Sans VF"/>
              </a:rPr>
              <a:t> reports </a:t>
            </a:r>
            <a:r>
              <a:rPr lang="en-US" sz="1600" b="1" i="0" dirty="0">
                <a:effectLst/>
                <a:latin typeface="Mona Sans VF"/>
              </a:rPr>
              <a:t>manipulative upsell patterns</a:t>
            </a:r>
            <a:r>
              <a:rPr lang="en-US" sz="1600" b="0" i="0" dirty="0">
                <a:effectLst/>
                <a:latin typeface="Mona Sans VF"/>
              </a:rPr>
              <a:t> ("Everyone's buying the Season Pass!") and </a:t>
            </a:r>
            <a:r>
              <a:rPr lang="en-US" sz="1600" b="1" i="0" dirty="0">
                <a:effectLst/>
                <a:latin typeface="Mona Sans VF"/>
              </a:rPr>
              <a:t>consent pressure signals</a:t>
            </a:r>
            <a:r>
              <a:rPr lang="en-US" sz="1600" b="0" i="0" dirty="0">
                <a:effectLst/>
                <a:latin typeface="Mona Sans VF"/>
              </a:rPr>
              <a:t> (pre-checked "Allow push notifications for offers" checkbox). The parent sets up parental purchase controls before allowing the download.</a:t>
            </a:r>
          </a:p>
        </p:txBody>
      </p:sp>
    </p:spTree>
    <p:extLst>
      <p:ext uri="{BB962C8B-B14F-4D97-AF65-F5344CB8AC3E}">
        <p14:creationId xmlns:p14="http://schemas.microsoft.com/office/powerpoint/2010/main" val="2277358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4001A-AC66-8F41-5D1E-6FF09C8DF8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3F2392-5C5D-93DB-EEA8-D54013D0E666}"/>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E111E7ED-77FE-3C94-EE75-FF0E20D72D4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DF80441C-186C-BFEE-8138-C60662019157}"/>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069730D5-7DD2-6950-8578-E5CA251A50F7}"/>
              </a:ext>
            </a:extLst>
          </p:cNvPr>
          <p:cNvSpPr/>
          <p:nvPr/>
        </p:nvSpPr>
        <p:spPr>
          <a:xfrm>
            <a:off x="452652" y="694944"/>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82DD9422-470A-6808-5402-FE794345D967}"/>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7" name="TextBox 6">
            <a:extLst>
              <a:ext uri="{FF2B5EF4-FFF2-40B4-BE49-F238E27FC236}">
                <a16:creationId xmlns:a16="http://schemas.microsoft.com/office/drawing/2014/main" id="{3CC28E02-2907-ADE1-C3AC-119BF5789367}"/>
              </a:ext>
            </a:extLst>
          </p:cNvPr>
          <p:cNvSpPr txBox="1"/>
          <p:nvPr/>
        </p:nvSpPr>
        <p:spPr>
          <a:xfrm>
            <a:off x="404884" y="1548384"/>
            <a:ext cx="11950889" cy="5586145"/>
          </a:xfrm>
          <a:prstGeom prst="rect">
            <a:avLst/>
          </a:prstGeom>
          <a:noFill/>
        </p:spPr>
        <p:txBody>
          <a:bodyPr wrap="square">
            <a:spAutoFit/>
          </a:bodyPr>
          <a:lstStyle/>
          <a:p>
            <a:r>
              <a:rPr lang="en-US" sz="2800" b="1" u="sng" dirty="0"/>
              <a:t>Scale potential-</a:t>
            </a:r>
          </a:p>
          <a:p>
            <a:endParaRPr lang="en-US" sz="2800" b="1" u="sng" dirty="0"/>
          </a:p>
          <a:p>
            <a:r>
              <a:rPr lang="en-US" dirty="0" err="1"/>
              <a:t>GuardianAI</a:t>
            </a:r>
            <a:r>
              <a:rPr lang="en-US" dirty="0"/>
              <a:t> has strong scale potential because:</a:t>
            </a:r>
          </a:p>
          <a:p>
            <a:r>
              <a:rPr lang="en-US" b="1" dirty="0"/>
              <a:t>1.The chat interface is low-friction and globally familiar</a:t>
            </a:r>
            <a:r>
              <a:rPr lang="en-US" dirty="0"/>
              <a:t> — 700M+ monthly active Telegram users worldwide; zero onboarding friction</a:t>
            </a:r>
          </a:p>
          <a:p>
            <a:endParaRPr lang="en-US" dirty="0"/>
          </a:p>
          <a:p>
            <a:r>
              <a:rPr lang="en-US" b="1" dirty="0"/>
              <a:t>2.The skill pipeline is modular and extendable</a:t>
            </a:r>
            <a:r>
              <a:rPr lang="en-US" dirty="0"/>
              <a:t> — New detection skills can be added without modifying existing ones; each skill is an independent TypeScript module</a:t>
            </a:r>
          </a:p>
          <a:p>
            <a:endParaRPr lang="en-US" dirty="0"/>
          </a:p>
          <a:p>
            <a:r>
              <a:rPr lang="en-US" b="1" dirty="0"/>
              <a:t>3.Shared vector memory improves outcome quality as usage grows</a:t>
            </a:r>
            <a:r>
              <a:rPr lang="en-US" dirty="0"/>
              <a:t> — The </a:t>
            </a:r>
            <a:r>
              <a:rPr lang="en-US" dirty="0" err="1"/>
              <a:t>ChromaDB</a:t>
            </a:r>
            <a:r>
              <a:rPr lang="en-US" dirty="0"/>
              <a:t> knowledge graph exhibits monotonically increasing accuracy; 1000 scans produce materially better results than 100</a:t>
            </a:r>
          </a:p>
          <a:p>
            <a:endParaRPr lang="en-US" dirty="0"/>
          </a:p>
          <a:p>
            <a:r>
              <a:rPr lang="en-US" b="1" dirty="0"/>
              <a:t>4.Additional channels (beyond Telegram) can be integrated while keeping core pipeline unchanged</a:t>
            </a:r>
            <a:r>
              <a:rPr lang="en-US" dirty="0"/>
              <a:t> — </a:t>
            </a:r>
            <a:r>
              <a:rPr lang="en-US" dirty="0" err="1"/>
              <a:t>OpenClaw</a:t>
            </a:r>
            <a:r>
              <a:rPr lang="en-US" dirty="0"/>
              <a:t> supports WhatsApp, Discord, Slack, Signal, Teams, and more; same skills, different channel adapter</a:t>
            </a:r>
          </a:p>
          <a:p>
            <a:endParaRPr lang="en-US" dirty="0"/>
          </a:p>
          <a:p>
            <a:r>
              <a:rPr lang="en-US" b="1" dirty="0"/>
              <a:t>5.Insights can evolve into dashboards, compliance modules, and consumer-risk analytics</a:t>
            </a:r>
            <a:r>
              <a:rPr lang="en-US" dirty="0"/>
              <a:t> — The structured pattern data (type, severity, evidence, URL) is ready for aggregation into industry-level dark pattern tracking</a:t>
            </a:r>
          </a:p>
          <a:p>
            <a:pPr algn="l">
              <a:spcBef>
                <a:spcPts val="1800"/>
              </a:spcBef>
              <a:spcAft>
                <a:spcPts val="1200"/>
              </a:spcAft>
              <a:buNone/>
            </a:pPr>
            <a:endParaRPr lang="en-US" sz="1600" b="0" i="0" dirty="0">
              <a:effectLst/>
              <a:latin typeface="Mona Sans VF"/>
            </a:endParaRPr>
          </a:p>
        </p:txBody>
      </p:sp>
    </p:spTree>
    <p:extLst>
      <p:ext uri="{BB962C8B-B14F-4D97-AF65-F5344CB8AC3E}">
        <p14:creationId xmlns:p14="http://schemas.microsoft.com/office/powerpoint/2010/main" val="3678102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663125"/>
            <a:ext cx="10778214" cy="4616648"/>
          </a:xfrm>
          <a:prstGeom prst="rect">
            <a:avLst/>
          </a:prstGeom>
          <a:noFill/>
        </p:spPr>
        <p:txBody>
          <a:bodyPr wrap="square" rtlCol="0">
            <a:spAutoFit/>
          </a:bodyPr>
          <a:lstStyle/>
          <a:p>
            <a:r>
              <a:rPr lang="en-US" sz="2400" b="1" u="sng" dirty="0"/>
              <a:t>Why our solution stands out-</a:t>
            </a:r>
          </a:p>
          <a:p>
            <a:endParaRPr lang="en-US" b="1" u="sng" dirty="0"/>
          </a:p>
          <a:p>
            <a:r>
              <a:rPr lang="en-US" dirty="0" err="1"/>
              <a:t>GuardianAI</a:t>
            </a:r>
            <a:r>
              <a:rPr lang="en-US" dirty="0"/>
              <a:t> stands out by combining:</a:t>
            </a:r>
          </a:p>
          <a:p>
            <a:r>
              <a:rPr lang="en-US" b="1" dirty="0"/>
              <a:t>1.Predictability</a:t>
            </a:r>
            <a:r>
              <a:rPr lang="en-US" dirty="0"/>
              <a:t> — Deterministic execution chain with no LLM routing decisions; every failure point has a defined fallback</a:t>
            </a:r>
          </a:p>
          <a:p>
            <a:endParaRPr lang="en-US" dirty="0"/>
          </a:p>
          <a:p>
            <a:r>
              <a:rPr lang="en-US" b="1" dirty="0"/>
              <a:t>2.Depth</a:t>
            </a:r>
            <a:r>
              <a:rPr lang="en-US" dirty="0"/>
              <a:t> — Simultaneous UI + </a:t>
            </a:r>
            <a:r>
              <a:rPr lang="en-US" dirty="0" err="1"/>
              <a:t>ToS</a:t>
            </a:r>
            <a:r>
              <a:rPr lang="en-US" dirty="0"/>
              <a:t> analysis with model specialization (8b for speed, 70b for reasoning)</a:t>
            </a:r>
          </a:p>
          <a:p>
            <a:endParaRPr lang="en-US" dirty="0"/>
          </a:p>
          <a:p>
            <a:r>
              <a:rPr lang="en-US" b="1" dirty="0"/>
              <a:t>3.Usability</a:t>
            </a:r>
            <a:r>
              <a:rPr lang="en-US" dirty="0"/>
              <a:t> — Plain-language Telegram interaction requiring zero technical knowledge from the user</a:t>
            </a:r>
          </a:p>
          <a:p>
            <a:endParaRPr lang="en-US" dirty="0"/>
          </a:p>
          <a:p>
            <a:r>
              <a:rPr lang="en-US" b="1" dirty="0"/>
              <a:t>4.Compounding intelligence</a:t>
            </a:r>
            <a:r>
              <a:rPr lang="en-US" dirty="0"/>
              <a:t> — Cross-user semantic retrieval that makes the system measurably better with every scan</a:t>
            </a:r>
          </a:p>
          <a:p>
            <a:endParaRPr lang="en-US" dirty="0"/>
          </a:p>
          <a:p>
            <a:r>
              <a:rPr lang="en-US" b="1" dirty="0"/>
              <a:t>5.Research compatibility</a:t>
            </a:r>
            <a:r>
              <a:rPr lang="en-US" dirty="0"/>
              <a:t> — Novel pattern detection with concrete cosine threshold (0.75), </a:t>
            </a:r>
            <a:r>
              <a:rPr lang="en-US" dirty="0" err="1"/>
              <a:t>ArXiv</a:t>
            </a:r>
            <a:r>
              <a:rPr lang="en-US" dirty="0"/>
              <a:t> cross-referencing, and traceable evidence audit trail</a:t>
            </a:r>
          </a:p>
          <a:p>
            <a:endParaRPr lang="en-IN" dirty="0"/>
          </a:p>
        </p:txBody>
      </p:sp>
    </p:spTree>
    <p:extLst>
      <p:ext uri="{BB962C8B-B14F-4D97-AF65-F5344CB8AC3E}">
        <p14:creationId xmlns:p14="http://schemas.microsoft.com/office/powerpoint/2010/main" val="1746425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FC34-5669-0719-3BB5-89DA34AD82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2C418F-7934-2DF4-19DA-5670AF71B297}"/>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2F7F34AD-9666-1CF1-96E9-955E32DE30DB}"/>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CC3AB09-D3AF-D059-02C6-6A408D26D9DF}"/>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92026B1C-4B10-3A0B-C07D-5486501BF1E6}"/>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D674A0D3-34BC-3172-240C-C8A528CFEBE6}"/>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49FA80E7-DA08-4F02-5CBD-B26CC1C52E3F}"/>
              </a:ext>
            </a:extLst>
          </p:cNvPr>
          <p:cNvSpPr txBox="1"/>
          <p:nvPr/>
        </p:nvSpPr>
        <p:spPr>
          <a:xfrm>
            <a:off x="609600" y="1656512"/>
            <a:ext cx="10778214" cy="3724096"/>
          </a:xfrm>
          <a:prstGeom prst="rect">
            <a:avLst/>
          </a:prstGeom>
          <a:noFill/>
        </p:spPr>
        <p:txBody>
          <a:bodyPr wrap="square" rtlCol="0">
            <a:spAutoFit/>
          </a:bodyPr>
          <a:lstStyle/>
          <a:p>
            <a:r>
              <a:rPr lang="en-US" sz="2800" b="1" u="sng" dirty="0"/>
              <a:t>Strong moat (1-2)-</a:t>
            </a:r>
          </a:p>
          <a:p>
            <a:endParaRPr lang="en-US" sz="2800" b="1" u="sng" dirty="0"/>
          </a:p>
          <a:p>
            <a:r>
              <a:rPr lang="en-US" b="1" dirty="0"/>
              <a:t>1.Data moat:</a:t>
            </a:r>
            <a:r>
              <a:rPr lang="en-US" dirty="0"/>
              <a:t> A continuously growing, cross-user dark-pattern vector graph that compounds retrieval quality and improves classification consistency over time. Every scan by every user contributes to a shared knowledge base that no competitor can replicate without equivalent usage volume. The value of the system grows super-linearly with the number of scans processed.</a:t>
            </a:r>
          </a:p>
          <a:p>
            <a:endParaRPr lang="en-US" dirty="0"/>
          </a:p>
          <a:p>
            <a:r>
              <a:rPr lang="en-US" b="1" dirty="0"/>
              <a:t>2.Execution moat:</a:t>
            </a:r>
            <a:r>
              <a:rPr lang="en-US" dirty="0"/>
              <a:t> A reproducible, deterministic, and evidence-traceable pipeline that is difficult to copy quickly without matching both architecture discipline and historical data depth. The combination of fixed skill chains, hybrid model routing, three-layer memory, and novel pattern detection creates a system whose behavior is both predictable and defensible.</a:t>
            </a:r>
          </a:p>
          <a:p>
            <a:endParaRPr lang="en-IN" dirty="0"/>
          </a:p>
        </p:txBody>
      </p:sp>
    </p:spTree>
    <p:extLst>
      <p:ext uri="{BB962C8B-B14F-4D97-AF65-F5344CB8AC3E}">
        <p14:creationId xmlns:p14="http://schemas.microsoft.com/office/powerpoint/2010/main" val="659982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6696002" cy="1477328"/>
          </a:xfrm>
          <a:prstGeom prst="rect">
            <a:avLst/>
          </a:prstGeom>
          <a:noFill/>
        </p:spPr>
        <p:txBody>
          <a:bodyPr wrap="square" rtlCol="0">
            <a:spAutoFit/>
          </a:bodyPr>
          <a:lstStyle/>
          <a:p>
            <a:r>
              <a:rPr lang="en-IN" dirty="0"/>
              <a:t>GitHub Repo: https://github.com/Anirudha933/GuardianAi</a:t>
            </a:r>
            <a:br>
              <a:rPr lang="en-IN" dirty="0"/>
            </a:br>
            <a:r>
              <a:rPr lang="en-IN" dirty="0"/>
              <a:t>Demo Link:</a:t>
            </a:r>
          </a:p>
          <a:p>
            <a:pPr marL="342900" indent="-342900">
              <a:buAutoNum type="arabicPeriod"/>
            </a:pPr>
            <a:r>
              <a:rPr lang="en-IN" dirty="0" err="1">
                <a:hlinkClick r:id="rId3"/>
              </a:rPr>
              <a:t>CodeBase</a:t>
            </a:r>
            <a:r>
              <a:rPr lang="en-IN" dirty="0">
                <a:hlinkClick r:id="rId3"/>
              </a:rPr>
              <a:t> + </a:t>
            </a:r>
            <a:r>
              <a:rPr lang="en-IN" dirty="0" err="1">
                <a:hlinkClick r:id="rId3"/>
              </a:rPr>
              <a:t>ollama</a:t>
            </a:r>
            <a:r>
              <a:rPr lang="en-IN" dirty="0">
                <a:hlinkClick r:id="rId3"/>
              </a:rPr>
              <a:t> integration</a:t>
            </a:r>
            <a:endParaRPr lang="en-IN" dirty="0"/>
          </a:p>
          <a:p>
            <a:pPr marL="342900" indent="-342900">
              <a:buAutoNum type="arabicPeriod"/>
            </a:pPr>
            <a:r>
              <a:rPr lang="en-IN" dirty="0" err="1">
                <a:hlinkClick r:id="rId4"/>
              </a:rPr>
              <a:t>OpenClaw</a:t>
            </a:r>
            <a:r>
              <a:rPr lang="en-IN" dirty="0">
                <a:hlinkClick r:id="rId4"/>
              </a:rPr>
              <a:t> Integration Explanation</a:t>
            </a:r>
            <a:endParaRPr lang="en-IN" dirty="0"/>
          </a:p>
          <a:p>
            <a:r>
              <a:rPr lang="en-IN" dirty="0"/>
              <a:t>Document submitted : </a:t>
            </a:r>
            <a:r>
              <a:rPr lang="en-IN" dirty="0" err="1">
                <a:hlinkClick r:id="rId5"/>
              </a:rPr>
              <a:t>link_to_doc</a:t>
            </a:r>
            <a:endParaRPr lang="en-IN" dirty="0"/>
          </a:p>
        </p:txBody>
      </p:sp>
    </p:spTree>
    <p:extLst>
      <p:ext uri="{BB962C8B-B14F-4D97-AF65-F5344CB8AC3E}">
        <p14:creationId xmlns:p14="http://schemas.microsoft.com/office/powerpoint/2010/main" val="1098279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275230" y="390144"/>
            <a:ext cx="10972800" cy="853440"/>
          </a:xfrm>
          <a:prstGeom prst="rect">
            <a:avLst/>
          </a:prstGeom>
          <a:noFill/>
          <a:ln/>
        </p:spPr>
        <p:txBody>
          <a:bodyPr wrap="square" lIns="0" tIns="0" rIns="0" bIns="0" rtlCol="0" anchor="ctr"/>
          <a:lstStyle/>
          <a:p>
            <a:r>
              <a:rPr lang="en-IN" sz="2800" b="1" u="sng" dirty="0"/>
              <a:t>Appendix A — Project structure-</a:t>
            </a:r>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163774" y="948690"/>
            <a:ext cx="12624179" cy="5909310"/>
          </a:xfrm>
          <a:prstGeom prst="rect">
            <a:avLst/>
          </a:prstGeom>
          <a:noFill/>
        </p:spPr>
        <p:txBody>
          <a:bodyPr wrap="square" rtlCol="0">
            <a:spAutoFit/>
          </a:bodyPr>
          <a:lstStyle/>
          <a:p>
            <a:r>
              <a:rPr lang="en-IN" sz="1400" b="1" dirty="0" err="1"/>
              <a:t>guardianai</a:t>
            </a:r>
            <a:r>
              <a:rPr lang="en-IN" sz="1400" b="1" dirty="0"/>
              <a:t>/</a:t>
            </a:r>
          </a:p>
          <a:p>
            <a:r>
              <a:rPr lang="en-IN" sz="1400" b="1" dirty="0"/>
              <a:t>├── skills/</a:t>
            </a:r>
          </a:p>
          <a:p>
            <a:r>
              <a:rPr lang="en-IN" sz="1400" b="1" dirty="0"/>
              <a:t>│   ├── </a:t>
            </a:r>
            <a:r>
              <a:rPr lang="en-IN" sz="1400" b="1" dirty="0" err="1"/>
              <a:t>scrape.skill.ts</a:t>
            </a:r>
            <a:r>
              <a:rPr lang="en-IN" sz="1400" b="1" dirty="0"/>
              <a:t>          ← Playwright + Axios scraper</a:t>
            </a:r>
          </a:p>
          <a:p>
            <a:r>
              <a:rPr lang="en-IN" sz="1400" b="1" dirty="0"/>
              <a:t>│   ├── </a:t>
            </a:r>
            <a:r>
              <a:rPr lang="en-IN" sz="1400" b="1" dirty="0" err="1"/>
              <a:t>analyseTos.skill.ts</a:t>
            </a:r>
            <a:r>
              <a:rPr lang="en-IN" sz="1400" b="1" dirty="0"/>
              <a:t>      ← Two-stage </a:t>
            </a:r>
            <a:r>
              <a:rPr lang="en-IN" sz="1400" b="1" dirty="0" err="1"/>
              <a:t>Groq</a:t>
            </a:r>
            <a:r>
              <a:rPr lang="en-IN" sz="1400" b="1" dirty="0"/>
              <a:t> </a:t>
            </a:r>
            <a:r>
              <a:rPr lang="en-IN" sz="1400" b="1" dirty="0" err="1"/>
              <a:t>ToS</a:t>
            </a:r>
            <a:r>
              <a:rPr lang="en-IN" sz="1400" b="1" dirty="0"/>
              <a:t> </a:t>
            </a:r>
            <a:r>
              <a:rPr lang="en-IN" sz="1400" b="1" dirty="0" err="1"/>
              <a:t>analyzer</a:t>
            </a:r>
            <a:endParaRPr lang="en-IN" sz="1400" b="1" dirty="0"/>
          </a:p>
          <a:p>
            <a:r>
              <a:rPr lang="en-IN" sz="1400" b="1" dirty="0"/>
              <a:t>│   ├── </a:t>
            </a:r>
            <a:r>
              <a:rPr lang="en-IN" sz="1400" b="1" dirty="0" err="1"/>
              <a:t>detectPatterns.skill.ts</a:t>
            </a:r>
            <a:r>
              <a:rPr lang="en-IN" sz="1400" b="1" dirty="0"/>
              <a:t>  ← RAG + </a:t>
            </a:r>
            <a:r>
              <a:rPr lang="en-IN" sz="1400" b="1" dirty="0" err="1"/>
              <a:t>Groq</a:t>
            </a:r>
            <a:r>
              <a:rPr lang="en-IN" sz="1400" b="1" dirty="0"/>
              <a:t> 70b classifier</a:t>
            </a:r>
          </a:p>
          <a:p>
            <a:r>
              <a:rPr lang="en-IN" sz="1400" b="1" dirty="0"/>
              <a:t>│   └── </a:t>
            </a:r>
            <a:r>
              <a:rPr lang="en-IN" sz="1400" b="1" dirty="0" err="1"/>
              <a:t>generateResponse.skill.ts</a:t>
            </a:r>
            <a:r>
              <a:rPr lang="en-IN" sz="1400" b="1" dirty="0"/>
              <a:t> ← Telegram formatter</a:t>
            </a:r>
          </a:p>
          <a:p>
            <a:r>
              <a:rPr lang="en-IN" sz="1400" b="1" dirty="0"/>
              <a:t>├── lib/</a:t>
            </a:r>
          </a:p>
          <a:p>
            <a:r>
              <a:rPr lang="en-IN" sz="1400" b="1" dirty="0"/>
              <a:t>│   ├── </a:t>
            </a:r>
            <a:r>
              <a:rPr lang="en-IN" sz="1400" b="1" dirty="0" err="1"/>
              <a:t>groq.ts</a:t>
            </a:r>
            <a:r>
              <a:rPr lang="en-IN" sz="1400" b="1" dirty="0"/>
              <a:t>                  ← Centralized </a:t>
            </a:r>
            <a:r>
              <a:rPr lang="en-IN" sz="1400" b="1" dirty="0" err="1"/>
              <a:t>Groq</a:t>
            </a:r>
            <a:r>
              <a:rPr lang="en-IN" sz="1400" b="1" dirty="0"/>
              <a:t> client (JSON mode, backoff)</a:t>
            </a:r>
          </a:p>
          <a:p>
            <a:r>
              <a:rPr lang="en-IN" sz="1400" b="1" dirty="0"/>
              <a:t>│   ├── </a:t>
            </a:r>
            <a:r>
              <a:rPr lang="en-IN" sz="1400" b="1" dirty="0" err="1"/>
              <a:t>vectorStore.ts</a:t>
            </a:r>
            <a:r>
              <a:rPr lang="en-IN" sz="1400" b="1" dirty="0"/>
              <a:t>           ← </a:t>
            </a:r>
            <a:r>
              <a:rPr lang="en-IN" sz="1400" b="1" dirty="0" err="1"/>
              <a:t>ChromaDB</a:t>
            </a:r>
            <a:r>
              <a:rPr lang="en-IN" sz="1400" b="1" dirty="0"/>
              <a:t> wrapper (store, retrieve, </a:t>
            </a:r>
            <a:r>
              <a:rPr lang="en-IN" sz="1400" b="1" dirty="0" err="1"/>
              <a:t>isNovel</a:t>
            </a:r>
            <a:r>
              <a:rPr lang="en-IN" sz="1400" b="1" dirty="0"/>
              <a:t>)</a:t>
            </a:r>
          </a:p>
          <a:p>
            <a:r>
              <a:rPr lang="en-IN" sz="1400" b="1" dirty="0"/>
              <a:t>│   ├── </a:t>
            </a:r>
            <a:r>
              <a:rPr lang="en-IN" sz="1400" b="1" dirty="0" err="1"/>
              <a:t>memory.ts</a:t>
            </a:r>
            <a:r>
              <a:rPr lang="en-IN" sz="1400" b="1" dirty="0"/>
              <a:t>                ← Per-user episodic memory (load, append, watchlist)</a:t>
            </a:r>
          </a:p>
          <a:p>
            <a:r>
              <a:rPr lang="en-IN" sz="1400" b="1" dirty="0"/>
              <a:t>│   ├── </a:t>
            </a:r>
            <a:r>
              <a:rPr lang="en-IN" sz="1400" b="1" dirty="0" err="1"/>
              <a:t>security.ts</a:t>
            </a:r>
            <a:r>
              <a:rPr lang="en-IN" sz="1400" b="1" dirty="0"/>
              <a:t>              ← HMAC, phone hashing, rate limiting</a:t>
            </a:r>
          </a:p>
          <a:p>
            <a:r>
              <a:rPr lang="en-IN" sz="1400" b="1" dirty="0"/>
              <a:t>│   ├── </a:t>
            </a:r>
            <a:r>
              <a:rPr lang="en-IN" sz="1400" b="1" dirty="0" err="1"/>
              <a:t>chunker.ts</a:t>
            </a:r>
            <a:r>
              <a:rPr lang="en-IN" sz="1400" b="1" dirty="0"/>
              <a:t>               ← 512-token </a:t>
            </a:r>
            <a:r>
              <a:rPr lang="en-IN" sz="1400" b="1" dirty="0" err="1"/>
              <a:t>ToS</a:t>
            </a:r>
            <a:r>
              <a:rPr lang="en-IN" sz="1400" b="1" dirty="0"/>
              <a:t> splitter</a:t>
            </a:r>
          </a:p>
          <a:p>
            <a:r>
              <a:rPr lang="en-IN" sz="1400" b="1" dirty="0"/>
              <a:t>│   ├── </a:t>
            </a:r>
            <a:r>
              <a:rPr lang="en-IN" sz="1400" b="1" dirty="0" err="1"/>
              <a:t>intent.ts</a:t>
            </a:r>
            <a:r>
              <a:rPr lang="en-IN" sz="1400" b="1" dirty="0"/>
              <a:t>                ← Intent classification (SCAN|ADD|EXPLAIN|UNKNOWN)</a:t>
            </a:r>
          </a:p>
          <a:p>
            <a:r>
              <a:rPr lang="en-IN" sz="1400" b="1" dirty="0"/>
              <a:t>│   ├── </a:t>
            </a:r>
            <a:r>
              <a:rPr lang="en-IN" sz="1400" b="1" dirty="0" err="1"/>
              <a:t>taskPlanner.ts</a:t>
            </a:r>
            <a:r>
              <a:rPr lang="en-IN" sz="1400" b="1" dirty="0"/>
              <a:t>           ← Rule-based skill chain router</a:t>
            </a:r>
          </a:p>
          <a:p>
            <a:r>
              <a:rPr lang="en-IN" sz="1400" b="1" dirty="0"/>
              <a:t>│   └── </a:t>
            </a:r>
            <a:r>
              <a:rPr lang="en-IN" sz="1400" b="1" dirty="0" err="1"/>
              <a:t>research.ts</a:t>
            </a:r>
            <a:r>
              <a:rPr lang="en-IN" sz="1400" b="1" dirty="0"/>
              <a:t>              ← </a:t>
            </a:r>
            <a:r>
              <a:rPr lang="en-IN" sz="1400" b="1" dirty="0" err="1"/>
              <a:t>ArXiv</a:t>
            </a:r>
            <a:r>
              <a:rPr lang="en-IN" sz="1400" b="1" dirty="0"/>
              <a:t> fetch + cross-mapping</a:t>
            </a:r>
          </a:p>
          <a:p>
            <a:r>
              <a:rPr lang="en-IN" sz="1400" b="1" dirty="0"/>
              <a:t>├── memory/</a:t>
            </a:r>
          </a:p>
          <a:p>
            <a:r>
              <a:rPr lang="en-IN" sz="1400" b="1" dirty="0"/>
              <a:t>│   └── {</a:t>
            </a:r>
            <a:r>
              <a:rPr lang="en-IN" sz="1400" b="1" dirty="0" err="1"/>
              <a:t>user_hash</a:t>
            </a:r>
            <a:r>
              <a:rPr lang="en-IN" sz="1400" b="1" dirty="0"/>
              <a:t>}.md           ← Per-user scan history + watchlist</a:t>
            </a:r>
          </a:p>
          <a:p>
            <a:r>
              <a:rPr lang="en-IN" sz="1400" b="1" dirty="0"/>
              <a:t>├── data/</a:t>
            </a:r>
          </a:p>
          <a:p>
            <a:r>
              <a:rPr lang="en-IN" sz="1400" b="1" dirty="0"/>
              <a:t>│   ├── chroma/                  ← </a:t>
            </a:r>
            <a:r>
              <a:rPr lang="en-IN" sz="1400" b="1" dirty="0" err="1"/>
              <a:t>ChromaDB</a:t>
            </a:r>
            <a:r>
              <a:rPr lang="en-IN" sz="1400" b="1" dirty="0"/>
              <a:t> vector store files</a:t>
            </a:r>
          </a:p>
          <a:p>
            <a:r>
              <a:rPr lang="en-IN" sz="1400" b="1" dirty="0"/>
              <a:t>│   └── </a:t>
            </a:r>
            <a:r>
              <a:rPr lang="en-IN" sz="1400" b="1" dirty="0" err="1"/>
              <a:t>novel_queue.jsonl</a:t>
            </a:r>
            <a:r>
              <a:rPr lang="en-IN" sz="1400" b="1" dirty="0"/>
              <a:t>        ← Novel pattern queue for research</a:t>
            </a:r>
          </a:p>
          <a:p>
            <a:r>
              <a:rPr lang="en-IN" sz="1400" b="1" dirty="0"/>
              <a:t>├── SOUL.md                      ← Agent personality + classification rules</a:t>
            </a:r>
          </a:p>
          <a:p>
            <a:r>
              <a:rPr lang="en-IN" sz="1400" b="1" dirty="0"/>
              <a:t>├── SKILL.md                     ← Skill registry for </a:t>
            </a:r>
            <a:r>
              <a:rPr lang="en-IN" sz="1400" b="1" dirty="0" err="1"/>
              <a:t>OpenClaw</a:t>
            </a:r>
            <a:endParaRPr lang="en-IN" sz="1400" b="1" dirty="0"/>
          </a:p>
          <a:p>
            <a:r>
              <a:rPr lang="en-IN" sz="1400" b="1" dirty="0"/>
              <a:t>├── HEARTBEAT.md                 ← Weekly rescan </a:t>
            </a:r>
            <a:r>
              <a:rPr lang="en-IN" sz="1400" b="1" dirty="0" err="1"/>
              <a:t>cron</a:t>
            </a:r>
            <a:r>
              <a:rPr lang="en-IN" sz="1400" b="1" dirty="0"/>
              <a:t> configuration</a:t>
            </a:r>
          </a:p>
          <a:p>
            <a:r>
              <a:rPr lang="en-IN" sz="1400" b="1" dirty="0"/>
              <a:t>├── </a:t>
            </a:r>
            <a:r>
              <a:rPr lang="en-IN" sz="1400" b="1" dirty="0" err="1"/>
              <a:t>package.json</a:t>
            </a:r>
            <a:endParaRPr lang="en-IN" sz="1400" b="1" dirty="0"/>
          </a:p>
          <a:p>
            <a:r>
              <a:rPr lang="en-IN" sz="1400" b="1" dirty="0"/>
              <a:t>├── </a:t>
            </a:r>
            <a:r>
              <a:rPr lang="en-IN" sz="1400" b="1" dirty="0" err="1"/>
              <a:t>tsconfig.json</a:t>
            </a:r>
            <a:endParaRPr lang="en-IN" sz="1400" b="1" dirty="0"/>
          </a:p>
          <a:p>
            <a:r>
              <a:rPr lang="en-IN" sz="1400" b="1" dirty="0"/>
              <a:t>├── </a:t>
            </a:r>
            <a:r>
              <a:rPr lang="en-IN" sz="1400" b="1" dirty="0" err="1"/>
              <a:t>ecosystem.config.cjs</a:t>
            </a:r>
            <a:r>
              <a:rPr lang="en-IN" sz="1400" b="1" dirty="0"/>
              <a:t>         ← PM2 process config with env vars</a:t>
            </a:r>
          </a:p>
          <a:p>
            <a:r>
              <a:rPr lang="en-IN" sz="1400" b="1" dirty="0"/>
              <a:t>└── .env                         ← API keys (never committed)</a:t>
            </a:r>
          </a:p>
        </p:txBody>
      </p:sp>
    </p:spTree>
    <p:extLst>
      <p:ext uri="{BB962C8B-B14F-4D97-AF65-F5344CB8AC3E}">
        <p14:creationId xmlns:p14="http://schemas.microsoft.com/office/powerpoint/2010/main" val="2308232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57B5C-1033-2535-1675-AD64BAF968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51B04A-527E-3A10-0559-C1F246EA790D}"/>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B171F289-5DF6-FFB4-55B5-02AD48FF22E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CF5B7703-8E39-4350-0A15-DFB46756E1F9}"/>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7AA43E8F-12C8-C353-CC38-104C94E11D8A}"/>
              </a:ext>
            </a:extLst>
          </p:cNvPr>
          <p:cNvSpPr/>
          <p:nvPr/>
        </p:nvSpPr>
        <p:spPr>
          <a:xfrm>
            <a:off x="495414" y="969208"/>
            <a:ext cx="10972800" cy="853440"/>
          </a:xfrm>
          <a:prstGeom prst="rect">
            <a:avLst/>
          </a:prstGeom>
          <a:noFill/>
          <a:ln/>
        </p:spPr>
        <p:txBody>
          <a:bodyPr wrap="square" lIns="0" tIns="0" rIns="0" bIns="0" rtlCol="0" anchor="ctr"/>
          <a:lstStyle/>
          <a:p>
            <a:r>
              <a:rPr lang="en-US" sz="2800" b="1" u="sng" dirty="0"/>
              <a:t>Appendix B — Dark pattern taxonomy (SOUL.md)-</a:t>
            </a:r>
          </a:p>
          <a:p>
            <a:endParaRPr lang="en-US" sz="2800" b="1" u="sng" dirty="0"/>
          </a:p>
          <a:p>
            <a:endParaRPr lang="en-US" sz="2800" b="1" u="sng" dirty="0"/>
          </a:p>
        </p:txBody>
      </p:sp>
      <p:sp>
        <p:nvSpPr>
          <p:cNvPr id="18" name="Text 1">
            <a:extLst>
              <a:ext uri="{FF2B5EF4-FFF2-40B4-BE49-F238E27FC236}">
                <a16:creationId xmlns:a16="http://schemas.microsoft.com/office/drawing/2014/main" id="{001B2EEA-2154-2D06-1C9B-49CB6C577169}"/>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graphicFrame>
        <p:nvGraphicFramePr>
          <p:cNvPr id="6" name="Table 5">
            <a:extLst>
              <a:ext uri="{FF2B5EF4-FFF2-40B4-BE49-F238E27FC236}">
                <a16:creationId xmlns:a16="http://schemas.microsoft.com/office/drawing/2014/main" id="{D593B782-3392-29F3-8C0E-531BBACD3B78}"/>
              </a:ext>
            </a:extLst>
          </p:cNvPr>
          <p:cNvGraphicFramePr>
            <a:graphicFrameLocks noGrp="1"/>
          </p:cNvGraphicFramePr>
          <p:nvPr>
            <p:extLst>
              <p:ext uri="{D42A27DB-BD31-4B8C-83A1-F6EECF244321}">
                <p14:modId xmlns:p14="http://schemas.microsoft.com/office/powerpoint/2010/main" val="748063355"/>
              </p:ext>
            </p:extLst>
          </p:nvPr>
        </p:nvGraphicFramePr>
        <p:xfrm>
          <a:off x="457200" y="1567705"/>
          <a:ext cx="10515600" cy="4075608"/>
        </p:xfrm>
        <a:graphic>
          <a:graphicData uri="http://schemas.openxmlformats.org/drawingml/2006/table">
            <a:tbl>
              <a:tblPr/>
              <a:tblGrid>
                <a:gridCol w="3505200">
                  <a:extLst>
                    <a:ext uri="{9D8B030D-6E8A-4147-A177-3AD203B41FA5}">
                      <a16:colId xmlns:a16="http://schemas.microsoft.com/office/drawing/2014/main" val="4254537005"/>
                    </a:ext>
                  </a:extLst>
                </a:gridCol>
                <a:gridCol w="3505200">
                  <a:extLst>
                    <a:ext uri="{9D8B030D-6E8A-4147-A177-3AD203B41FA5}">
                      <a16:colId xmlns:a16="http://schemas.microsoft.com/office/drawing/2014/main" val="2342979273"/>
                    </a:ext>
                  </a:extLst>
                </a:gridCol>
                <a:gridCol w="3505200">
                  <a:extLst>
                    <a:ext uri="{9D8B030D-6E8A-4147-A177-3AD203B41FA5}">
                      <a16:colId xmlns:a16="http://schemas.microsoft.com/office/drawing/2014/main" val="1162316074"/>
                    </a:ext>
                  </a:extLst>
                </a:gridCol>
              </a:tblGrid>
              <a:tr h="0">
                <a:tc>
                  <a:txBody>
                    <a:bodyPr/>
                    <a:lstStyle/>
                    <a:p>
                      <a:pPr>
                        <a:buNone/>
                      </a:pPr>
                      <a:r>
                        <a:rPr lang="en-IN" b="1">
                          <a:solidFill>
                            <a:schemeClr val="bg1"/>
                          </a:solidFill>
                          <a:effectLst/>
                        </a:rPr>
                        <a:t>Pattern Type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1"/>
                          </a:solidFill>
                          <a:effectLst/>
                        </a:rPr>
                        <a:t>Description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b="1">
                          <a:solidFill>
                            <a:schemeClr val="bg1"/>
                          </a:solidFill>
                          <a:effectLst/>
                        </a:rPr>
                        <a:t>Severity Range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395164815"/>
                  </a:ext>
                </a:extLst>
              </a:tr>
              <a:tr h="0">
                <a:tc>
                  <a:txBody>
                    <a:bodyPr/>
                    <a:lstStyle/>
                    <a:p>
                      <a:pPr>
                        <a:buNone/>
                      </a:pPr>
                      <a:r>
                        <a:rPr lang="en-IN">
                          <a:solidFill>
                            <a:schemeClr val="bg1"/>
                          </a:solidFill>
                          <a:effectLst/>
                          <a:latin typeface="Monaspace Neon"/>
                        </a:rPr>
                        <a:t>roach_motel</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Easy to get into, hard to cancel</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4-8</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277337164"/>
                  </a:ext>
                </a:extLst>
              </a:tr>
              <a:tr h="0">
                <a:tc>
                  <a:txBody>
                    <a:bodyPr/>
                    <a:lstStyle/>
                    <a:p>
                      <a:pPr>
                        <a:buNone/>
                      </a:pPr>
                      <a:r>
                        <a:rPr lang="en-IN">
                          <a:solidFill>
                            <a:schemeClr val="bg1"/>
                          </a:solidFill>
                          <a:effectLst/>
                          <a:latin typeface="Monaspace Neon"/>
                        </a:rPr>
                        <a:t>trick_questions</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dirty="0">
                          <a:solidFill>
                            <a:schemeClr val="bg1"/>
                          </a:solidFill>
                          <a:effectLst/>
                        </a:rPr>
                        <a:t>Confusing opt-in/out wording</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3-6</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412962566"/>
                  </a:ext>
                </a:extLst>
              </a:tr>
              <a:tr h="0">
                <a:tc>
                  <a:txBody>
                    <a:bodyPr/>
                    <a:lstStyle/>
                    <a:p>
                      <a:pPr>
                        <a:buNone/>
                      </a:pPr>
                      <a:r>
                        <a:rPr lang="en-IN">
                          <a:solidFill>
                            <a:schemeClr val="bg1"/>
                          </a:solidFill>
                          <a:effectLst/>
                          <a:latin typeface="Monaspace Neon"/>
                        </a:rPr>
                        <a:t>hidden_costs</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bg1"/>
                          </a:solidFill>
                          <a:effectLst/>
                        </a:rPr>
                        <a:t>Fees revealed only at checkout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5-9</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64482329"/>
                  </a:ext>
                </a:extLst>
              </a:tr>
              <a:tr h="0">
                <a:tc>
                  <a:txBody>
                    <a:bodyPr/>
                    <a:lstStyle/>
                    <a:p>
                      <a:pPr>
                        <a:buNone/>
                      </a:pPr>
                      <a:r>
                        <a:rPr lang="en-IN">
                          <a:solidFill>
                            <a:schemeClr val="bg1"/>
                          </a:solidFill>
                          <a:effectLst/>
                          <a:latin typeface="Monaspace Neon"/>
                        </a:rPr>
                        <a:t>confirmshaming</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Guilt-tripping opt-out copy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2-5</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4206252835"/>
                  </a:ext>
                </a:extLst>
              </a:tr>
              <a:tr h="0">
                <a:tc>
                  <a:txBody>
                    <a:bodyPr/>
                    <a:lstStyle/>
                    <a:p>
                      <a:pPr>
                        <a:buNone/>
                      </a:pPr>
                      <a:r>
                        <a:rPr lang="en-IN">
                          <a:solidFill>
                            <a:schemeClr val="bg1"/>
                          </a:solidFill>
                          <a:effectLst/>
                          <a:latin typeface="Monaspace Neon"/>
                        </a:rPr>
                        <a:t>misdirection</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Distraction from important choices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3-7</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816770368"/>
                  </a:ext>
                </a:extLst>
              </a:tr>
              <a:tr h="0">
                <a:tc>
                  <a:txBody>
                    <a:bodyPr/>
                    <a:lstStyle/>
                    <a:p>
                      <a:pPr>
                        <a:buNone/>
                      </a:pPr>
                      <a:r>
                        <a:rPr lang="en-IN">
                          <a:solidFill>
                            <a:schemeClr val="bg1"/>
                          </a:solidFill>
                          <a:effectLst/>
                          <a:latin typeface="Monaspace Neon"/>
                        </a:rPr>
                        <a:t>forced_continuity</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Auto-renewal without clear notice</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6-9</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092154092"/>
                  </a:ext>
                </a:extLst>
              </a:tr>
              <a:tr h="0">
                <a:tc>
                  <a:txBody>
                    <a:bodyPr/>
                    <a:lstStyle/>
                    <a:p>
                      <a:pPr>
                        <a:buNone/>
                      </a:pPr>
                      <a:r>
                        <a:rPr lang="en-IN">
                          <a:solidFill>
                            <a:schemeClr val="bg1"/>
                          </a:solidFill>
                          <a:effectLst/>
                          <a:latin typeface="Monaspace Neon"/>
                        </a:rPr>
                        <a:t>privacy_zuckering</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Misleading data consent flows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5-8</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898902098"/>
                  </a:ext>
                </a:extLst>
              </a:tr>
              <a:tr h="0">
                <a:tc>
                  <a:txBody>
                    <a:bodyPr/>
                    <a:lstStyle/>
                    <a:p>
                      <a:pPr>
                        <a:buNone/>
                      </a:pPr>
                      <a:r>
                        <a:rPr lang="en-IN">
                          <a:solidFill>
                            <a:schemeClr val="bg1"/>
                          </a:solidFill>
                          <a:effectLst/>
                          <a:latin typeface="Monaspace Neon"/>
                        </a:rPr>
                        <a:t>urgency_manipulation</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Fake timers, false scarcity</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4-8</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2234471420"/>
                  </a:ext>
                </a:extLst>
              </a:tr>
              <a:tr h="0">
                <a:tc>
                  <a:txBody>
                    <a:bodyPr/>
                    <a:lstStyle/>
                    <a:p>
                      <a:pPr>
                        <a:buNone/>
                      </a:pPr>
                      <a:r>
                        <a:rPr lang="en-IN">
                          <a:solidFill>
                            <a:schemeClr val="bg1"/>
                          </a:solidFill>
                          <a:effectLst/>
                          <a:latin typeface="Monaspace Neon"/>
                        </a:rPr>
                        <a:t>disguised_ads</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US">
                          <a:solidFill>
                            <a:schemeClr val="bg1"/>
                          </a:solidFill>
                          <a:effectLst/>
                        </a:rPr>
                        <a:t>Ads designed to look like content</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3-6</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655658840"/>
                  </a:ext>
                </a:extLst>
              </a:tr>
              <a:tr h="0">
                <a:tc>
                  <a:txBody>
                    <a:bodyPr/>
                    <a:lstStyle/>
                    <a:p>
                      <a:pPr>
                        <a:buNone/>
                      </a:pPr>
                      <a:r>
                        <a:rPr lang="en-IN">
                          <a:solidFill>
                            <a:schemeClr val="bg1"/>
                          </a:solidFill>
                          <a:effectLst/>
                          <a:latin typeface="Monaspace Neon"/>
                        </a:rPr>
                        <a:t>bait_and_switch</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US">
                          <a:solidFill>
                            <a:schemeClr val="bg1"/>
                          </a:solidFill>
                          <a:effectLst/>
                        </a:rPr>
                        <a:t>Offer replaced with inferior option</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tc>
                  <a:txBody>
                    <a:bodyPr/>
                    <a:lstStyle/>
                    <a:p>
                      <a:pPr>
                        <a:buNone/>
                      </a:pPr>
                      <a:r>
                        <a:rPr lang="en-IN">
                          <a:solidFill>
                            <a:schemeClr val="bg1"/>
                          </a:solidFill>
                          <a:effectLst/>
                        </a:rPr>
                        <a:t>7-10</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824454713"/>
                  </a:ext>
                </a:extLst>
              </a:tr>
              <a:tr h="0">
                <a:tc>
                  <a:txBody>
                    <a:bodyPr/>
                    <a:lstStyle/>
                    <a:p>
                      <a:pPr>
                        <a:buNone/>
                      </a:pPr>
                      <a:r>
                        <a:rPr lang="en-IN">
                          <a:solidFill>
                            <a:schemeClr val="bg1"/>
                          </a:solidFill>
                          <a:effectLst/>
                          <a:latin typeface="Monaspace Neon"/>
                        </a:rPr>
                        <a:t>social_proof_manipulation</a:t>
                      </a:r>
                      <a:endParaRPr lang="en-IN">
                        <a:solidFill>
                          <a:schemeClr val="bg1"/>
                        </a:solidFill>
                        <a:effectLst/>
                      </a:endParaRP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a:solidFill>
                            <a:schemeClr val="bg1"/>
                          </a:solidFill>
                          <a:effectLst/>
                        </a:rPr>
                        <a:t>Fake reviews or counts</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tc>
                  <a:txBody>
                    <a:bodyPr/>
                    <a:lstStyle/>
                    <a:p>
                      <a:pPr>
                        <a:buNone/>
                      </a:pPr>
                      <a:r>
                        <a:rPr lang="en-IN" dirty="0">
                          <a:solidFill>
                            <a:schemeClr val="bg1"/>
                          </a:solidFill>
                          <a:effectLst/>
                        </a:rPr>
                        <a:t>4-7</a:t>
                      </a:r>
                    </a:p>
                  </a:txBody>
                  <a:tcPr marL="70757" marR="70757" marT="32657" marB="32657" anchor="ctr">
                    <a:lnL w="2825" cap="flat" cmpd="sng" algn="ctr">
                      <a:solidFill>
                        <a:srgbClr val="3D444D"/>
                      </a:solidFill>
                      <a:prstDash val="solid"/>
                      <a:round/>
                      <a:headEnd type="none" w="med" len="med"/>
                      <a:tailEnd type="none" w="med" len="med"/>
                    </a:lnL>
                    <a:lnR w="2825" cap="flat" cmpd="sng" algn="ctr">
                      <a:solidFill>
                        <a:srgbClr val="3D444D"/>
                      </a:solidFill>
                      <a:prstDash val="solid"/>
                      <a:round/>
                      <a:headEnd type="none" w="med" len="med"/>
                      <a:tailEnd type="none" w="med" len="med"/>
                    </a:lnR>
                    <a:lnT w="2825" cap="flat" cmpd="sng" algn="ctr">
                      <a:solidFill>
                        <a:srgbClr val="3D444D"/>
                      </a:solidFill>
                      <a:prstDash val="solid"/>
                      <a:round/>
                      <a:headEnd type="none" w="med" len="med"/>
                      <a:tailEnd type="none" w="med" len="med"/>
                    </a:lnT>
                    <a:lnB w="2825"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512048793"/>
                  </a:ext>
                </a:extLst>
              </a:tr>
            </a:tbl>
          </a:graphicData>
        </a:graphic>
      </p:graphicFrame>
    </p:spTree>
    <p:extLst>
      <p:ext uri="{BB962C8B-B14F-4D97-AF65-F5344CB8AC3E}">
        <p14:creationId xmlns:p14="http://schemas.microsoft.com/office/powerpoint/2010/main" val="3812749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757AC-ECDE-7604-2BBE-EE55AAAF6E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CBA69F-ADC2-B7EA-8EA7-613D53419263}"/>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D86FC302-2927-7D32-DA91-01FCF3268C8F}"/>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027B8939-7CE7-6588-4974-DD482EBD6971}"/>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29C1DF78-C2CB-4A7E-B1EE-452A98CCC5C5}"/>
              </a:ext>
            </a:extLst>
          </p:cNvPr>
          <p:cNvSpPr/>
          <p:nvPr/>
        </p:nvSpPr>
        <p:spPr>
          <a:xfrm>
            <a:off x="495414" y="969208"/>
            <a:ext cx="10972800" cy="853440"/>
          </a:xfrm>
          <a:prstGeom prst="rect">
            <a:avLst/>
          </a:prstGeom>
          <a:noFill/>
          <a:ln/>
        </p:spPr>
        <p:txBody>
          <a:bodyPr wrap="square" lIns="0" tIns="0" rIns="0" bIns="0" rtlCol="0" anchor="ctr"/>
          <a:lstStyle/>
          <a:p>
            <a:r>
              <a:rPr lang="en-IN" sz="2800" b="1" u="sng" dirty="0"/>
              <a:t>Appendix C — Condensed visual map-</a:t>
            </a:r>
          </a:p>
          <a:p>
            <a:endParaRPr lang="en-US" sz="2800" b="1" u="sng" dirty="0"/>
          </a:p>
          <a:p>
            <a:endParaRPr lang="en-US" sz="2800" b="1" u="sng" dirty="0"/>
          </a:p>
        </p:txBody>
      </p:sp>
      <p:sp>
        <p:nvSpPr>
          <p:cNvPr id="18" name="Text 1">
            <a:extLst>
              <a:ext uri="{FF2B5EF4-FFF2-40B4-BE49-F238E27FC236}">
                <a16:creationId xmlns:a16="http://schemas.microsoft.com/office/drawing/2014/main" id="{E676BCCE-F5BA-7662-C76D-10163D606643}"/>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8" name="TextBox 7">
            <a:extLst>
              <a:ext uri="{FF2B5EF4-FFF2-40B4-BE49-F238E27FC236}">
                <a16:creationId xmlns:a16="http://schemas.microsoft.com/office/drawing/2014/main" id="{6B4AB54D-9B8C-360F-4077-2C684E05BDEC}"/>
              </a:ext>
            </a:extLst>
          </p:cNvPr>
          <p:cNvSpPr txBox="1"/>
          <p:nvPr/>
        </p:nvSpPr>
        <p:spPr>
          <a:xfrm>
            <a:off x="495414" y="1720840"/>
            <a:ext cx="6103960" cy="3785652"/>
          </a:xfrm>
          <a:prstGeom prst="rect">
            <a:avLst/>
          </a:prstGeom>
          <a:noFill/>
        </p:spPr>
        <p:txBody>
          <a:bodyPr wrap="square">
            <a:spAutoFit/>
          </a:bodyPr>
          <a:lstStyle/>
          <a:p>
            <a:r>
              <a:rPr lang="en-IN" sz="2000" b="1" dirty="0"/>
              <a:t>User (Telegram)</a:t>
            </a:r>
          </a:p>
          <a:p>
            <a:r>
              <a:rPr lang="en-IN" sz="2000" b="1" dirty="0"/>
              <a:t>   -&gt; </a:t>
            </a:r>
            <a:r>
              <a:rPr lang="en-IN" sz="2000" b="1" dirty="0" err="1"/>
              <a:t>OpenClaw</a:t>
            </a:r>
            <a:r>
              <a:rPr lang="en-IN" sz="2000" b="1" dirty="0"/>
              <a:t> Agent</a:t>
            </a:r>
          </a:p>
          <a:p>
            <a:r>
              <a:rPr lang="en-IN" sz="2000" b="1" dirty="0"/>
              <a:t>      -&gt; Scrape         [Playwright + Axios]</a:t>
            </a:r>
          </a:p>
          <a:p>
            <a:r>
              <a:rPr lang="en-IN" sz="2000" b="1" dirty="0"/>
              <a:t>      -&gt; </a:t>
            </a:r>
            <a:r>
              <a:rPr lang="en-IN" sz="2000" b="1" dirty="0" err="1"/>
              <a:t>ToS</a:t>
            </a:r>
            <a:r>
              <a:rPr lang="en-IN" sz="2000" b="1" dirty="0"/>
              <a:t> </a:t>
            </a:r>
            <a:r>
              <a:rPr lang="en-IN" sz="2000" b="1" dirty="0" err="1"/>
              <a:t>Analyze</a:t>
            </a:r>
            <a:r>
              <a:rPr lang="en-IN" sz="2000" b="1" dirty="0"/>
              <a:t>    [8b filter + 70b analysis]</a:t>
            </a:r>
          </a:p>
          <a:p>
            <a:r>
              <a:rPr lang="en-IN" sz="2000" b="1" dirty="0"/>
              <a:t>      -&gt; Detect         [70b + </a:t>
            </a:r>
            <a:r>
              <a:rPr lang="en-IN" sz="2000" b="1" dirty="0" err="1"/>
              <a:t>ChromaDB</a:t>
            </a:r>
            <a:r>
              <a:rPr lang="en-IN" sz="2000" b="1" dirty="0"/>
              <a:t> RAG]</a:t>
            </a:r>
          </a:p>
          <a:p>
            <a:r>
              <a:rPr lang="en-IN" sz="2000" b="1" dirty="0"/>
              <a:t>      -&gt; Respond        [8b formatter]</a:t>
            </a:r>
          </a:p>
          <a:p>
            <a:r>
              <a:rPr lang="en-IN" sz="2000" b="1" dirty="0"/>
              <a:t>   -&gt; User gets actionable risk + recommendation</a:t>
            </a:r>
          </a:p>
          <a:p>
            <a:endParaRPr lang="en-IN" sz="2000" b="1" dirty="0"/>
          </a:p>
          <a:p>
            <a:r>
              <a:rPr lang="en-IN" sz="2000" b="1" dirty="0"/>
              <a:t>Every scan:</a:t>
            </a:r>
          </a:p>
          <a:p>
            <a:r>
              <a:rPr lang="en-IN" sz="2000" b="1" dirty="0"/>
              <a:t>   -&gt; updates episodic memory (per-user)</a:t>
            </a:r>
          </a:p>
          <a:p>
            <a:r>
              <a:rPr lang="en-IN" sz="2000" b="1" dirty="0"/>
              <a:t>   -&gt; updates semantic memory (community-wide)</a:t>
            </a:r>
          </a:p>
          <a:p>
            <a:r>
              <a:rPr lang="en-IN" sz="2000" b="1" dirty="0"/>
              <a:t>   -&gt; improves future detections for all users</a:t>
            </a:r>
          </a:p>
        </p:txBody>
      </p:sp>
    </p:spTree>
    <p:extLst>
      <p:ext uri="{BB962C8B-B14F-4D97-AF65-F5344CB8AC3E}">
        <p14:creationId xmlns:p14="http://schemas.microsoft.com/office/powerpoint/2010/main" val="1138599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4101</Words>
  <Application>Microsoft Office PowerPoint</Application>
  <PresentationFormat>Widescreen</PresentationFormat>
  <Paragraphs>577</Paragraphs>
  <Slides>36</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Berlin Sans FB Demi</vt:lpstr>
      <vt:lpstr>Calibri</vt:lpstr>
      <vt:lpstr>Calibri Light</vt:lpstr>
      <vt:lpstr>Mona Sans VF</vt:lpstr>
      <vt:lpstr>Monaspace Neon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SANKALP GUPTA</cp:lastModifiedBy>
  <cp:revision>5</cp:revision>
  <dcterms:created xsi:type="dcterms:W3CDTF">2026-04-27T09:11:02Z</dcterms:created>
  <dcterms:modified xsi:type="dcterms:W3CDTF">2026-05-08T19:52:06Z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